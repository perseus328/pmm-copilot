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2743200" cy="274320"/>
          </a:xfrm>
          <a:prstGeom prst="rect">
            <a:avLst/>
          </a:prstGeom>
          <a:noFill/>
          <a:ln/>
        </p:spPr>
        <p:txBody>
          <a:bodyPr wrap="square" rtlCol="0" anchor="ctr"/>
          <a:lstStyle/>
          <a:p>
            <a:pPr indent="0" marL="0">
              <a:buNone/>
            </a:pPr>
            <a:r>
              <a:rPr lang="en-US" sz="1400" b="1" spc="400" kern="0" dirty="0">
                <a:solidFill>
                  <a:srgbClr val="63A0E0"/>
                </a:solidFill>
                <a:latin typeface="Calibri" pitchFamily="34" charset="0"/>
                <a:ea typeface="Calibri" pitchFamily="34" charset="-122"/>
                <a:cs typeface="Calibri" pitchFamily="34" charset="-120"/>
              </a:rPr>
              <a:t>RESOLVE AI</a:t>
            </a:r>
            <a:endParaRPr lang="en-US" sz="1400" dirty="0"/>
          </a:p>
        </p:txBody>
      </p:sp>
      <p:sp>
        <p:nvSpPr>
          <p:cNvPr id="3" name="Shape 1"/>
          <p:cNvSpPr/>
          <p:nvPr/>
        </p:nvSpPr>
        <p:spPr>
          <a:xfrm>
            <a:off x="7132320" y="1463040"/>
            <a:ext cx="1645920" cy="36576"/>
          </a:xfrm>
          <a:prstGeom prst="rect">
            <a:avLst/>
          </a:prstGeom>
          <a:solidFill>
            <a:srgbClr val="1E3A5F"/>
          </a:solidFill>
          <a:ln/>
        </p:spPr>
      </p:sp>
      <p:sp>
        <p:nvSpPr>
          <p:cNvPr id="4" name="Shape 2"/>
          <p:cNvSpPr/>
          <p:nvPr/>
        </p:nvSpPr>
        <p:spPr>
          <a:xfrm>
            <a:off x="7132320" y="1627632"/>
            <a:ext cx="1188720" cy="36576"/>
          </a:xfrm>
          <a:prstGeom prst="rect">
            <a:avLst/>
          </a:prstGeom>
          <a:solidFill>
            <a:srgbClr val="3B7FD4"/>
          </a:solidFill>
          <a:ln/>
        </p:spPr>
      </p:sp>
      <p:sp>
        <p:nvSpPr>
          <p:cNvPr id="5" name="Shape 3"/>
          <p:cNvSpPr/>
          <p:nvPr/>
        </p:nvSpPr>
        <p:spPr>
          <a:xfrm>
            <a:off x="7132320" y="1792224"/>
            <a:ext cx="1463040" cy="36576"/>
          </a:xfrm>
          <a:prstGeom prst="rect">
            <a:avLst/>
          </a:prstGeom>
          <a:solidFill>
            <a:srgbClr val="1E3A5F"/>
          </a:solidFill>
          <a:ln/>
        </p:spPr>
      </p:sp>
      <p:sp>
        <p:nvSpPr>
          <p:cNvPr id="6" name="Text 4"/>
          <p:cNvSpPr/>
          <p:nvPr/>
        </p:nvSpPr>
        <p:spPr>
          <a:xfrm>
            <a:off x="731520" y="1005840"/>
            <a:ext cx="7680960" cy="2011680"/>
          </a:xfrm>
          <a:prstGeom prst="rect">
            <a:avLst/>
          </a:prstGeom>
          <a:noFill/>
          <a:ln/>
        </p:spPr>
        <p:txBody>
          <a:bodyPr wrap="square" rtlCol="0" anchor="t"/>
          <a:lstStyle/>
          <a:p>
            <a:pPr indent="0" marL="0">
              <a:lnSpc>
                <a:spcPct val="125000"/>
              </a:lnSpc>
              <a:buNone/>
            </a:pPr>
            <a:r>
              <a:rPr lang="en-US" sz="2800" b="1" dirty="0">
                <a:solidFill>
                  <a:srgbClr val="FFFFFF"/>
                </a:solidFill>
                <a:latin typeface="Georgia" pitchFamily="34" charset="0"/>
                <a:ea typeface="Georgia" pitchFamily="34" charset="-122"/>
                <a:cs typeface="Georgia" pitchFamily="34" charset="-120"/>
              </a:rPr>
              <a:t>The gap between what your systems know</a:t>
            </a:r>
            <a:endParaRPr lang="en-US" sz="2800" dirty="0"/>
          </a:p>
          <a:p>
            <a:pPr indent="0" marL="0">
              <a:lnSpc>
                <a:spcPct val="125000"/>
              </a:lnSpc>
              <a:buNone/>
            </a:pPr>
            <a:r>
              <a:rPr lang="en-US" sz="2800" b="1" dirty="0">
                <a:solidFill>
                  <a:srgbClr val="63A0E0"/>
                </a:solidFill>
                <a:latin typeface="Georgia" pitchFamily="34" charset="0"/>
                <a:ea typeface="Georgia" pitchFamily="34" charset="-122"/>
                <a:cs typeface="Georgia" pitchFamily="34" charset="-120"/>
              </a:rPr>
              <a:t>and what your engineers can act on.</a:t>
            </a:r>
            <a:endParaRPr lang="en-US" sz="2800" dirty="0"/>
          </a:p>
        </p:txBody>
      </p:sp>
      <p:sp>
        <p:nvSpPr>
          <p:cNvPr id="7" name="Text 5"/>
          <p:cNvSpPr/>
          <p:nvPr/>
        </p:nvSpPr>
        <p:spPr>
          <a:xfrm>
            <a:off x="731520" y="3291840"/>
            <a:ext cx="6400800" cy="320040"/>
          </a:xfrm>
          <a:prstGeom prst="rect">
            <a:avLst/>
          </a:prstGeom>
          <a:noFill/>
          <a:ln/>
        </p:spPr>
        <p:txBody>
          <a:bodyPr wrap="square" rtlCol="0" anchor="ctr"/>
          <a:lstStyle/>
          <a:p>
            <a:pPr indent="0" marL="0">
              <a:buNone/>
            </a:pPr>
            <a:r>
              <a:rPr lang="en-US" sz="1400" dirty="0">
                <a:solidFill>
                  <a:srgbClr val="8899AA"/>
                </a:solidFill>
                <a:latin typeface="Calibri" pitchFamily="34" charset="0"/>
                <a:ea typeface="Calibri" pitchFamily="34" charset="-122"/>
                <a:cs typeface="Calibri" pitchFamily="34" charset="-120"/>
              </a:rPr>
              <a:t>AI-powered incident investigation  ·  First Call</a:t>
            </a:r>
            <a:endParaRPr lang="en-US" sz="1400" dirty="0"/>
          </a:p>
        </p:txBody>
      </p:sp>
      <p:sp>
        <p:nvSpPr>
          <p:cNvPr id="8" name="Shape 6"/>
          <p:cNvSpPr/>
          <p:nvPr/>
        </p:nvSpPr>
        <p:spPr>
          <a:xfrm>
            <a:off x="0" y="4823460"/>
            <a:ext cx="9144000" cy="320040"/>
          </a:xfrm>
          <a:prstGeom prst="rect">
            <a:avLst/>
          </a:prstGeom>
          <a:solidFill>
            <a:srgbClr val="1E3A5F"/>
          </a:solidFill>
          <a:ln/>
        </p:spPr>
      </p:sp>
      <p:sp>
        <p:nvSpPr>
          <p:cNvPr id="9" name="Text 7"/>
          <p:cNvSpPr/>
          <p:nvPr/>
        </p:nvSpPr>
        <p:spPr>
          <a:xfrm>
            <a:off x="457200" y="4846320"/>
            <a:ext cx="1828800" cy="2286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resolve.ai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56032"/>
            <a:ext cx="6400800" cy="256032"/>
          </a:xfrm>
          <a:prstGeom prst="rect">
            <a:avLst/>
          </a:prstGeom>
          <a:noFill/>
          <a:ln/>
        </p:spPr>
        <p:txBody>
          <a:bodyPr wrap="square" rtlCol="0" anchor="ctr"/>
          <a:lstStyle/>
          <a:p>
            <a:pPr indent="0" marL="0">
              <a:buNone/>
            </a:pPr>
            <a:r>
              <a:rPr lang="en-US" sz="1100" b="1" spc="300" kern="0" dirty="0">
                <a:solidFill>
                  <a:srgbClr val="63A0E0"/>
                </a:solidFill>
                <a:latin typeface="Calibri" pitchFamily="34" charset="0"/>
                <a:ea typeface="Calibri" pitchFamily="34" charset="-122"/>
                <a:cs typeface="Calibri" pitchFamily="34" charset="-120"/>
              </a:rPr>
              <a:t>THE WORLD YOU'RE RUNNING</a:t>
            </a:r>
            <a:endParaRPr lang="en-US" sz="1100" dirty="0"/>
          </a:p>
        </p:txBody>
      </p:sp>
      <p:sp>
        <p:nvSpPr>
          <p:cNvPr id="3" name="Text 1"/>
          <p:cNvSpPr/>
          <p:nvPr/>
        </p:nvSpPr>
        <p:spPr>
          <a:xfrm>
            <a:off x="457200" y="594360"/>
            <a:ext cx="8229600" cy="5486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You've built excellent observability.</a:t>
            </a:r>
            <a:endParaRPr lang="en-US" sz="3000" dirty="0"/>
          </a:p>
        </p:txBody>
      </p:sp>
      <p:sp>
        <p:nvSpPr>
          <p:cNvPr id="4" name="Shape 2"/>
          <p:cNvSpPr/>
          <p:nvPr/>
        </p:nvSpPr>
        <p:spPr>
          <a:xfrm>
            <a:off x="457200" y="1371600"/>
            <a:ext cx="8229600" cy="685800"/>
          </a:xfrm>
          <a:prstGeom prst="rect">
            <a:avLst/>
          </a:prstGeom>
          <a:solidFill>
            <a:srgbClr val="1E3A5F"/>
          </a:solidFill>
          <a:ln/>
          <a:effectLst>
            <a:outerShdw sx="100000" sy="100000" kx="0" ky="0" algn="bl" rotWithShape="0" blurRad="101600" dist="25400" dir="8100000">
              <a:srgbClr val="000000">
                <a:alpha val="12000"/>
              </a:srgbClr>
            </a:outerShdw>
          </a:effectLst>
        </p:spPr>
      </p:sp>
      <p:sp>
        <p:nvSpPr>
          <p:cNvPr id="5" name="Shape 3"/>
          <p:cNvSpPr/>
          <p:nvPr/>
        </p:nvSpPr>
        <p:spPr>
          <a:xfrm>
            <a:off x="457200" y="1371600"/>
            <a:ext cx="64008" cy="685800"/>
          </a:xfrm>
          <a:prstGeom prst="rect">
            <a:avLst/>
          </a:prstGeom>
          <a:solidFill>
            <a:srgbClr val="3B7FD4"/>
          </a:solidFill>
          <a:ln/>
        </p:spPr>
      </p:sp>
      <p:sp>
        <p:nvSpPr>
          <p:cNvPr id="6" name="Text 4"/>
          <p:cNvSpPr/>
          <p:nvPr/>
        </p:nvSpPr>
        <p:spPr>
          <a:xfrm>
            <a:off x="685800" y="1371600"/>
            <a:ext cx="7772400" cy="68580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Logs. Metrics. Traces.  </a:t>
            </a:r>
            <a:endParaRPr lang="en-US" sz="1500" dirty="0"/>
          </a:p>
          <a:p>
            <a:pPr indent="0" marL="0">
              <a:buNone/>
            </a:pPr>
            <a:r>
              <a:rPr lang="en-US" sz="1300" dirty="0">
                <a:solidFill>
                  <a:srgbClr val="8899AA"/>
                </a:solidFill>
                <a:latin typeface="Calibri" pitchFamily="34" charset="0"/>
                <a:ea typeface="Calibri" pitchFamily="34" charset="-122"/>
                <a:cs typeface="Calibri" pitchFamily="34" charset="-120"/>
              </a:rPr>
              <a:t>All flowing. Teams instrumented across every service.</a:t>
            </a:r>
            <a:endParaRPr lang="en-US" sz="1500" dirty="0"/>
          </a:p>
        </p:txBody>
      </p:sp>
      <p:sp>
        <p:nvSpPr>
          <p:cNvPr id="7" name="Shape 5"/>
          <p:cNvSpPr/>
          <p:nvPr/>
        </p:nvSpPr>
        <p:spPr>
          <a:xfrm>
            <a:off x="457200" y="2240280"/>
            <a:ext cx="8229600" cy="685800"/>
          </a:xfrm>
          <a:prstGeom prst="rect">
            <a:avLst/>
          </a:prstGeom>
          <a:solidFill>
            <a:srgbClr val="1E3A5F"/>
          </a:solidFill>
          <a:ln/>
          <a:effectLst>
            <a:outerShdw sx="100000" sy="100000" kx="0" ky="0" algn="bl" rotWithShape="0" blurRad="101600" dist="25400" dir="8100000">
              <a:srgbClr val="000000">
                <a:alpha val="12000"/>
              </a:srgbClr>
            </a:outerShdw>
          </a:effectLst>
        </p:spPr>
      </p:sp>
      <p:sp>
        <p:nvSpPr>
          <p:cNvPr id="8" name="Shape 6"/>
          <p:cNvSpPr/>
          <p:nvPr/>
        </p:nvSpPr>
        <p:spPr>
          <a:xfrm>
            <a:off x="457200" y="2240280"/>
            <a:ext cx="64008" cy="685800"/>
          </a:xfrm>
          <a:prstGeom prst="rect">
            <a:avLst/>
          </a:prstGeom>
          <a:solidFill>
            <a:srgbClr val="3B7FD4"/>
          </a:solidFill>
          <a:ln/>
        </p:spPr>
      </p:sp>
      <p:sp>
        <p:nvSpPr>
          <p:cNvPr id="9" name="Text 7"/>
          <p:cNvSpPr/>
          <p:nvPr/>
        </p:nvSpPr>
        <p:spPr>
          <a:xfrm>
            <a:off x="685800" y="2240280"/>
            <a:ext cx="7772400" cy="68580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Alerts configured for every failure mode.  </a:t>
            </a:r>
            <a:endParaRPr lang="en-US" sz="1500" dirty="0"/>
          </a:p>
          <a:p>
            <a:pPr indent="0" marL="0">
              <a:buNone/>
            </a:pPr>
            <a:r>
              <a:rPr lang="en-US" sz="1300" dirty="0">
                <a:solidFill>
                  <a:srgbClr val="8899AA"/>
                </a:solidFill>
                <a:latin typeface="Calibri" pitchFamily="34" charset="0"/>
                <a:ea typeface="Calibri" pitchFamily="34" charset="-122"/>
                <a:cs typeface="Calibri" pitchFamily="34" charset="-120"/>
              </a:rPr>
              <a:t>PagerDuty. Datadog. Splunk. Grafana. The stack is in place.</a:t>
            </a:r>
            <a:endParaRPr lang="en-US" sz="1500" dirty="0"/>
          </a:p>
        </p:txBody>
      </p:sp>
      <p:sp>
        <p:nvSpPr>
          <p:cNvPr id="10" name="Shape 8"/>
          <p:cNvSpPr/>
          <p:nvPr/>
        </p:nvSpPr>
        <p:spPr>
          <a:xfrm>
            <a:off x="457200" y="3108960"/>
            <a:ext cx="8229600" cy="685800"/>
          </a:xfrm>
          <a:prstGeom prst="rect">
            <a:avLst/>
          </a:prstGeom>
          <a:solidFill>
            <a:srgbClr val="1E3A5F"/>
          </a:solidFill>
          <a:ln/>
          <a:effectLst>
            <a:outerShdw sx="100000" sy="100000" kx="0" ky="0" algn="bl" rotWithShape="0" blurRad="101600" dist="25400" dir="8100000">
              <a:srgbClr val="000000">
                <a:alpha val="12000"/>
              </a:srgbClr>
            </a:outerShdw>
          </a:effectLst>
        </p:spPr>
      </p:sp>
      <p:sp>
        <p:nvSpPr>
          <p:cNvPr id="11" name="Shape 9"/>
          <p:cNvSpPr/>
          <p:nvPr/>
        </p:nvSpPr>
        <p:spPr>
          <a:xfrm>
            <a:off x="457200" y="3108960"/>
            <a:ext cx="64008" cy="685800"/>
          </a:xfrm>
          <a:prstGeom prst="rect">
            <a:avLst/>
          </a:prstGeom>
          <a:solidFill>
            <a:srgbClr val="3B7FD4"/>
          </a:solidFill>
          <a:ln/>
        </p:spPr>
      </p:sp>
      <p:sp>
        <p:nvSpPr>
          <p:cNvPr id="12" name="Text 10"/>
          <p:cNvSpPr/>
          <p:nvPr/>
        </p:nvSpPr>
        <p:spPr>
          <a:xfrm>
            <a:off x="685800" y="3108960"/>
            <a:ext cx="7772400" cy="68580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You have more signal than ever before.  </a:t>
            </a:r>
            <a:endParaRPr lang="en-US" sz="1500" dirty="0"/>
          </a:p>
          <a:p>
            <a:pPr indent="0" marL="0">
              <a:buNone/>
            </a:pPr>
            <a:r>
              <a:rPr lang="en-US" sz="1300" i="1" dirty="0">
                <a:solidFill>
                  <a:srgbClr val="63A0E0"/>
                </a:solidFill>
                <a:latin typeface="Calibri" pitchFamily="34" charset="0"/>
                <a:ea typeface="Calibri" pitchFamily="34" charset="-122"/>
                <a:cs typeface="Calibri" pitchFamily="34" charset="-120"/>
              </a:rPr>
              <a:t>The data exists. The question is whether it's actionable.</a:t>
            </a:r>
            <a:endParaRPr lang="en-US" sz="1500" dirty="0"/>
          </a:p>
        </p:txBody>
      </p:sp>
      <p:sp>
        <p:nvSpPr>
          <p:cNvPr id="13" name="Shape 11"/>
          <p:cNvSpPr/>
          <p:nvPr/>
        </p:nvSpPr>
        <p:spPr>
          <a:xfrm>
            <a:off x="0" y="4526280"/>
            <a:ext cx="9144000" cy="342900"/>
          </a:xfrm>
          <a:prstGeom prst="rect">
            <a:avLst/>
          </a:prstGeom>
          <a:solidFill>
            <a:srgbClr val="1E3A5F"/>
          </a:solidFill>
          <a:ln/>
        </p:spPr>
      </p:sp>
      <p:sp>
        <p:nvSpPr>
          <p:cNvPr id="14" name="Text 12"/>
          <p:cNvSpPr/>
          <p:nvPr/>
        </p:nvSpPr>
        <p:spPr>
          <a:xfrm>
            <a:off x="457200" y="4572000"/>
            <a:ext cx="8229600" cy="27432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Most teams have solved the data layer. Very few have solved the interpretation layer.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5486400" cy="256032"/>
          </a:xfrm>
          <a:prstGeom prst="rect">
            <a:avLst/>
          </a:prstGeom>
          <a:noFill/>
          <a:ln/>
        </p:spPr>
        <p:txBody>
          <a:bodyPr wrap="square" rtlCol="0" anchor="ctr"/>
          <a:lstStyle/>
          <a:p>
            <a:pPr indent="0" marL="0">
              <a:buNone/>
            </a:pPr>
            <a:r>
              <a:rPr lang="en-US" sz="1100" b="1" spc="300" kern="0" dirty="0">
                <a:solidFill>
                  <a:srgbClr val="3B7FD4"/>
                </a:solidFill>
                <a:latin typeface="Calibri" pitchFamily="34" charset="0"/>
                <a:ea typeface="Calibri" pitchFamily="34" charset="-122"/>
                <a:cs typeface="Calibri" pitchFamily="34" charset="-120"/>
              </a:rPr>
              <a:t>THE SIGNAL PROBLEM</a:t>
            </a:r>
            <a:endParaRPr lang="en-US" sz="1100" dirty="0"/>
          </a:p>
        </p:txBody>
      </p:sp>
      <p:sp>
        <p:nvSpPr>
          <p:cNvPr id="3" name="Text 1"/>
          <p:cNvSpPr/>
          <p:nvPr/>
        </p:nvSpPr>
        <p:spPr>
          <a:xfrm>
            <a:off x="457200" y="548640"/>
            <a:ext cx="8229600" cy="502920"/>
          </a:xfrm>
          <a:prstGeom prst="rect">
            <a:avLst/>
          </a:prstGeom>
          <a:noFill/>
          <a:ln/>
        </p:spPr>
        <p:txBody>
          <a:bodyPr wrap="square" rtlCol="0" anchor="ctr"/>
          <a:lstStyle/>
          <a:p>
            <a:pPr indent="0" marL="0">
              <a:buNone/>
            </a:pPr>
            <a:r>
              <a:rPr lang="en-US" sz="2600" b="1" dirty="0">
                <a:solidFill>
                  <a:srgbClr val="1C2B4A"/>
                </a:solidFill>
                <a:latin typeface="Georgia" pitchFamily="34" charset="0"/>
                <a:ea typeface="Georgia" pitchFamily="34" charset="-122"/>
                <a:cs typeface="Georgia" pitchFamily="34" charset="-120"/>
              </a:rPr>
              <a:t>Most of what fires isn't worth your time.</a:t>
            </a:r>
            <a:endParaRPr lang="en-US" sz="2600" dirty="0"/>
          </a:p>
        </p:txBody>
      </p:sp>
      <p:sp>
        <p:nvSpPr>
          <p:cNvPr id="4" name="Shape 2"/>
          <p:cNvSpPr/>
          <p:nvPr/>
        </p:nvSpPr>
        <p:spPr>
          <a:xfrm>
            <a:off x="365760" y="1188720"/>
            <a:ext cx="3977640" cy="2240280"/>
          </a:xfrm>
          <a:prstGeom prst="rect">
            <a:avLst/>
          </a:prstGeom>
          <a:solidFill>
            <a:srgbClr val="EBF2FF"/>
          </a:solidFill>
          <a:ln/>
          <a:effectLst>
            <a:outerShdw sx="100000" sy="100000" kx="0" ky="0" algn="bl" rotWithShape="0" blurRad="101600" dist="25400" dir="8100000">
              <a:srgbClr val="000000">
                <a:alpha val="12000"/>
              </a:srgbClr>
            </a:outerShdw>
          </a:effectLst>
        </p:spPr>
      </p:sp>
      <p:sp>
        <p:nvSpPr>
          <p:cNvPr id="5" name="Shape 3"/>
          <p:cNvSpPr/>
          <p:nvPr/>
        </p:nvSpPr>
        <p:spPr>
          <a:xfrm>
            <a:off x="365760" y="1188720"/>
            <a:ext cx="64008" cy="2240280"/>
          </a:xfrm>
          <a:prstGeom prst="rect">
            <a:avLst/>
          </a:prstGeom>
          <a:solidFill>
            <a:srgbClr val="3B7FD4"/>
          </a:solidFill>
          <a:ln/>
        </p:spPr>
      </p:sp>
      <p:sp>
        <p:nvSpPr>
          <p:cNvPr id="6" name="Text 4"/>
          <p:cNvSpPr/>
          <p:nvPr/>
        </p:nvSpPr>
        <p:spPr>
          <a:xfrm>
            <a:off x="594360" y="1261872"/>
            <a:ext cx="3657600" cy="960120"/>
          </a:xfrm>
          <a:prstGeom prst="rect">
            <a:avLst/>
          </a:prstGeom>
          <a:noFill/>
          <a:ln/>
        </p:spPr>
        <p:txBody>
          <a:bodyPr wrap="square" rtlCol="0" anchor="ctr"/>
          <a:lstStyle/>
          <a:p>
            <a:pPr indent="0" marL="0">
              <a:buNone/>
            </a:pPr>
            <a:r>
              <a:rPr lang="en-US" sz="5400" b="1" dirty="0">
                <a:solidFill>
                  <a:srgbClr val="3B7FD4"/>
                </a:solidFill>
                <a:latin typeface="Georgia" pitchFamily="34" charset="0"/>
                <a:ea typeface="Georgia" pitchFamily="34" charset="-122"/>
                <a:cs typeface="Georgia" pitchFamily="34" charset="-120"/>
              </a:rPr>
              <a:t>97.8%</a:t>
            </a:r>
            <a:endParaRPr lang="en-US" sz="5400" dirty="0"/>
          </a:p>
        </p:txBody>
      </p:sp>
      <p:sp>
        <p:nvSpPr>
          <p:cNvPr id="7" name="Text 5"/>
          <p:cNvSpPr/>
          <p:nvPr/>
        </p:nvSpPr>
        <p:spPr>
          <a:xfrm>
            <a:off x="594360" y="2212848"/>
            <a:ext cx="3566160" cy="320040"/>
          </a:xfrm>
          <a:prstGeom prst="rect">
            <a:avLst/>
          </a:prstGeom>
          <a:noFill/>
          <a:ln/>
        </p:spPr>
        <p:txBody>
          <a:bodyPr wrap="square" rtlCol="0" anchor="ctr"/>
          <a:lstStyle/>
          <a:p>
            <a:pPr indent="0" marL="0">
              <a:buNone/>
            </a:pPr>
            <a:r>
              <a:rPr lang="en-US" sz="1300" b="1" dirty="0">
                <a:solidFill>
                  <a:srgbClr val="1C2B4A"/>
                </a:solidFill>
                <a:latin typeface="Calibri" pitchFamily="34" charset="0"/>
                <a:ea typeface="Calibri" pitchFamily="34" charset="-122"/>
                <a:cs typeface="Calibri" pitchFamily="34" charset="-120"/>
              </a:rPr>
              <a:t>of weekly alerts are noise</a:t>
            </a:r>
            <a:endParaRPr lang="en-US" sz="1300" dirty="0"/>
          </a:p>
        </p:txBody>
      </p:sp>
      <p:sp>
        <p:nvSpPr>
          <p:cNvPr id="8" name="Text 6"/>
          <p:cNvSpPr/>
          <p:nvPr/>
        </p:nvSpPr>
        <p:spPr>
          <a:xfrm>
            <a:off x="594360" y="2578608"/>
            <a:ext cx="3566160" cy="228600"/>
          </a:xfrm>
          <a:prstGeom prst="rect">
            <a:avLst/>
          </a:prstGeom>
          <a:noFill/>
          <a:ln/>
        </p:spPr>
        <p:txBody>
          <a:bodyPr wrap="square" rtlCol="0" anchor="ctr"/>
          <a:lstStyle/>
          <a:p>
            <a:pPr indent="0" marL="0">
              <a:buNone/>
            </a:pPr>
            <a:r>
              <a:rPr lang="en-US" sz="1100" b="1" dirty="0">
                <a:solidFill>
                  <a:srgbClr val="3B7FD4"/>
                </a:solidFill>
                <a:latin typeface="Calibri" pitchFamily="34" charset="0"/>
                <a:ea typeface="Calibri" pitchFamily="34" charset="-122"/>
                <a:cs typeface="Calibri" pitchFamily="34" charset="-120"/>
              </a:rPr>
              <a:t>Millennium Partners LP</a:t>
            </a:r>
            <a:endParaRPr lang="en-US" sz="1100" dirty="0"/>
          </a:p>
        </p:txBody>
      </p:sp>
      <p:sp>
        <p:nvSpPr>
          <p:cNvPr id="9" name="Text 7"/>
          <p:cNvSpPr/>
          <p:nvPr/>
        </p:nvSpPr>
        <p:spPr>
          <a:xfrm>
            <a:off x="594360" y="2834640"/>
            <a:ext cx="3566160" cy="365760"/>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70,000 alerts/week → 1,500 actionable</a:t>
            </a:r>
            <a:endParaRPr lang="en-US" sz="1100" dirty="0"/>
          </a:p>
        </p:txBody>
      </p:sp>
      <p:sp>
        <p:nvSpPr>
          <p:cNvPr id="10" name="Shape 8"/>
          <p:cNvSpPr/>
          <p:nvPr/>
        </p:nvSpPr>
        <p:spPr>
          <a:xfrm>
            <a:off x="4800600" y="1188720"/>
            <a:ext cx="3977640" cy="2240280"/>
          </a:xfrm>
          <a:prstGeom prst="rect">
            <a:avLst/>
          </a:prstGeom>
          <a:solidFill>
            <a:srgbClr val="EBF2FF"/>
          </a:solidFill>
          <a:ln/>
          <a:effectLst>
            <a:outerShdw sx="100000" sy="100000" kx="0" ky="0" algn="bl" rotWithShape="0" blurRad="101600" dist="25400" dir="8100000">
              <a:srgbClr val="000000">
                <a:alpha val="12000"/>
              </a:srgbClr>
            </a:outerShdw>
          </a:effectLst>
        </p:spPr>
      </p:sp>
      <p:sp>
        <p:nvSpPr>
          <p:cNvPr id="11" name="Shape 9"/>
          <p:cNvSpPr/>
          <p:nvPr/>
        </p:nvSpPr>
        <p:spPr>
          <a:xfrm>
            <a:off x="4800600" y="1188720"/>
            <a:ext cx="64008" cy="2240280"/>
          </a:xfrm>
          <a:prstGeom prst="rect">
            <a:avLst/>
          </a:prstGeom>
          <a:solidFill>
            <a:srgbClr val="3B7FD4"/>
          </a:solidFill>
          <a:ln/>
        </p:spPr>
      </p:sp>
      <p:sp>
        <p:nvSpPr>
          <p:cNvPr id="12" name="Text 10"/>
          <p:cNvSpPr/>
          <p:nvPr/>
        </p:nvSpPr>
        <p:spPr>
          <a:xfrm>
            <a:off x="5029200" y="1261872"/>
            <a:ext cx="3657600" cy="960120"/>
          </a:xfrm>
          <a:prstGeom prst="rect">
            <a:avLst/>
          </a:prstGeom>
          <a:noFill/>
          <a:ln/>
        </p:spPr>
        <p:txBody>
          <a:bodyPr wrap="square" rtlCol="0" anchor="ctr"/>
          <a:lstStyle/>
          <a:p>
            <a:pPr indent="0" marL="0">
              <a:buNone/>
            </a:pPr>
            <a:r>
              <a:rPr lang="en-US" sz="5400" b="1" dirty="0">
                <a:solidFill>
                  <a:srgbClr val="3B7FD4"/>
                </a:solidFill>
                <a:latin typeface="Georgia" pitchFamily="34" charset="0"/>
                <a:ea typeface="Georgia" pitchFamily="34" charset="-122"/>
                <a:cs typeface="Georgia" pitchFamily="34" charset="-120"/>
              </a:rPr>
              <a:t>86%</a:t>
            </a:r>
            <a:endParaRPr lang="en-US" sz="5400" dirty="0"/>
          </a:p>
        </p:txBody>
      </p:sp>
      <p:sp>
        <p:nvSpPr>
          <p:cNvPr id="13" name="Text 11"/>
          <p:cNvSpPr/>
          <p:nvPr/>
        </p:nvSpPr>
        <p:spPr>
          <a:xfrm>
            <a:off x="5029200" y="2212848"/>
            <a:ext cx="3566160" cy="320040"/>
          </a:xfrm>
          <a:prstGeom prst="rect">
            <a:avLst/>
          </a:prstGeom>
          <a:noFill/>
          <a:ln/>
        </p:spPr>
        <p:txBody>
          <a:bodyPr wrap="square" rtlCol="0" anchor="ctr"/>
          <a:lstStyle/>
          <a:p>
            <a:pPr indent="0" marL="0">
              <a:buNone/>
            </a:pPr>
            <a:r>
              <a:rPr lang="en-US" sz="1300" b="1" dirty="0">
                <a:solidFill>
                  <a:srgbClr val="1C2B4A"/>
                </a:solidFill>
                <a:latin typeface="Calibri" pitchFamily="34" charset="0"/>
                <a:ea typeface="Calibri" pitchFamily="34" charset="-122"/>
                <a:cs typeface="Calibri" pitchFamily="34" charset="-120"/>
              </a:rPr>
              <a:t>of monthly alerts are noise</a:t>
            </a:r>
            <a:endParaRPr lang="en-US" sz="1300" dirty="0"/>
          </a:p>
        </p:txBody>
      </p:sp>
      <p:sp>
        <p:nvSpPr>
          <p:cNvPr id="14" name="Text 12"/>
          <p:cNvSpPr/>
          <p:nvPr/>
        </p:nvSpPr>
        <p:spPr>
          <a:xfrm>
            <a:off x="5029200" y="2578608"/>
            <a:ext cx="3566160" cy="228600"/>
          </a:xfrm>
          <a:prstGeom prst="rect">
            <a:avLst/>
          </a:prstGeom>
          <a:noFill/>
          <a:ln/>
        </p:spPr>
        <p:txBody>
          <a:bodyPr wrap="square" rtlCol="0" anchor="ctr"/>
          <a:lstStyle/>
          <a:p>
            <a:pPr indent="0" marL="0">
              <a:buNone/>
            </a:pPr>
            <a:r>
              <a:rPr lang="en-US" sz="1100" b="1" dirty="0">
                <a:solidFill>
                  <a:srgbClr val="3B7FD4"/>
                </a:solidFill>
                <a:latin typeface="Calibri" pitchFamily="34" charset="0"/>
                <a:ea typeface="Calibri" pitchFamily="34" charset="-122"/>
                <a:cs typeface="Calibri" pitchFamily="34" charset="-120"/>
              </a:rPr>
              <a:t>Qualcomm</a:t>
            </a:r>
            <a:endParaRPr lang="en-US" sz="1100" dirty="0"/>
          </a:p>
        </p:txBody>
      </p:sp>
      <p:sp>
        <p:nvSpPr>
          <p:cNvPr id="15" name="Text 13"/>
          <p:cNvSpPr/>
          <p:nvPr/>
        </p:nvSpPr>
        <p:spPr>
          <a:xfrm>
            <a:off x="5029200" y="2834640"/>
            <a:ext cx="3566160" cy="365760"/>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500,000 alerts/month → 70,000 incidents</a:t>
            </a:r>
            <a:endParaRPr lang="en-US" sz="1100" dirty="0"/>
          </a:p>
        </p:txBody>
      </p:sp>
      <p:sp>
        <p:nvSpPr>
          <p:cNvPr id="16" name="Shape 14"/>
          <p:cNvSpPr/>
          <p:nvPr/>
        </p:nvSpPr>
        <p:spPr>
          <a:xfrm>
            <a:off x="365760" y="3566160"/>
            <a:ext cx="8412480" cy="1005840"/>
          </a:xfrm>
          <a:prstGeom prst="rect">
            <a:avLst/>
          </a:prstGeom>
          <a:solidFill>
            <a:srgbClr val="1C2B4A"/>
          </a:solidFill>
          <a:ln/>
          <a:effectLst>
            <a:outerShdw sx="100000" sy="100000" kx="0" ky="0" algn="bl" rotWithShape="0" blurRad="101600" dist="25400" dir="8100000">
              <a:srgbClr val="000000">
                <a:alpha val="12000"/>
              </a:srgbClr>
            </a:outerShdw>
          </a:effectLst>
        </p:spPr>
      </p:sp>
      <p:sp>
        <p:nvSpPr>
          <p:cNvPr id="17" name="Shape 15"/>
          <p:cNvSpPr/>
          <p:nvPr/>
        </p:nvSpPr>
        <p:spPr>
          <a:xfrm>
            <a:off x="365760" y="3566160"/>
            <a:ext cx="64008" cy="1005840"/>
          </a:xfrm>
          <a:prstGeom prst="rect">
            <a:avLst/>
          </a:prstGeom>
          <a:solidFill>
            <a:srgbClr val="3B7FD4"/>
          </a:solidFill>
          <a:ln/>
        </p:spPr>
      </p:sp>
      <p:sp>
        <p:nvSpPr>
          <p:cNvPr id="18" name="Text 16"/>
          <p:cNvSpPr/>
          <p:nvPr/>
        </p:nvSpPr>
        <p:spPr>
          <a:xfrm>
            <a:off x="594360" y="3630168"/>
            <a:ext cx="7772400" cy="59436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"When there's so many alerts, even if that alert fired, someone might not have looked at it."</a:t>
            </a:r>
            <a:endParaRPr lang="en-US" sz="1300" dirty="0"/>
          </a:p>
        </p:txBody>
      </p:sp>
      <p:sp>
        <p:nvSpPr>
          <p:cNvPr id="19" name="Text 17"/>
          <p:cNvSpPr/>
          <p:nvPr/>
        </p:nvSpPr>
        <p:spPr>
          <a:xfrm>
            <a:off x="594360" y="4224528"/>
            <a:ext cx="7772400" cy="256032"/>
          </a:xfrm>
          <a:prstGeom prst="rect">
            <a:avLst/>
          </a:prstGeom>
          <a:noFill/>
          <a:ln/>
        </p:spPr>
        <p:txBody>
          <a:bodyPr wrap="square" rtlCol="0" anchor="ctr"/>
          <a:lstStyle/>
          <a:p>
            <a:pPr indent="0" marL="0">
              <a:buNone/>
            </a:pPr>
            <a:r>
              <a:rPr lang="en-US" sz="1100" dirty="0">
                <a:solidFill>
                  <a:srgbClr val="63A0E0"/>
                </a:solidFill>
                <a:latin typeface="Calibri" pitchFamily="34" charset="0"/>
                <a:ea typeface="Calibri" pitchFamily="34" charset="-122"/>
                <a:cs typeface="Calibri" pitchFamily="34" charset="-120"/>
              </a:rPr>
              <a:t>— Mike Kennedy, SRE / Observability Lead, JPMorgan Chase</a:t>
            </a:r>
            <a:endParaRPr lang="en-US" sz="1100" dirty="0"/>
          </a:p>
        </p:txBody>
      </p:sp>
      <p:sp>
        <p:nvSpPr>
          <p:cNvPr id="20" name="Text 18"/>
          <p:cNvSpPr/>
          <p:nvPr/>
        </p:nvSpPr>
        <p:spPr>
          <a:xfrm>
            <a:off x="457200" y="4745736"/>
            <a:ext cx="8229600" cy="256032"/>
          </a:xfrm>
          <a:prstGeom prst="rect">
            <a:avLst/>
          </a:prstGeom>
          <a:noFill/>
          <a:ln/>
        </p:spPr>
        <p:txBody>
          <a:bodyPr wrap="square" rtlCol="0" anchor="ctr"/>
          <a:lstStyle/>
          <a:p>
            <a:pPr algn="ctr" indent="0" marL="0">
              <a:buNone/>
            </a:pPr>
            <a:r>
              <a:rPr lang="en-US" sz="1200" b="1" dirty="0">
                <a:solidFill>
                  <a:srgbClr val="3B7FD4"/>
                </a:solidFill>
                <a:latin typeface="Calibri" pitchFamily="34" charset="0"/>
                <a:ea typeface="Calibri" pitchFamily="34" charset="-122"/>
                <a:cs typeface="Calibri" pitchFamily="34" charset="-120"/>
              </a:rPr>
              <a:t>The result: engineers learn to ignore the system designed to help them.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5486400" cy="256032"/>
          </a:xfrm>
          <a:prstGeom prst="rect">
            <a:avLst/>
          </a:prstGeom>
          <a:noFill/>
          <a:ln/>
        </p:spPr>
        <p:txBody>
          <a:bodyPr wrap="square" rtlCol="0" anchor="ctr"/>
          <a:lstStyle/>
          <a:p>
            <a:pPr indent="0" marL="0">
              <a:buNone/>
            </a:pPr>
            <a:r>
              <a:rPr lang="en-US" sz="1100" b="1" spc="300" kern="0" dirty="0">
                <a:solidFill>
                  <a:srgbClr val="3B7FD4"/>
                </a:solidFill>
                <a:latin typeface="Calibri" pitchFamily="34" charset="0"/>
                <a:ea typeface="Calibri" pitchFamily="34" charset="-122"/>
                <a:cs typeface="Calibri" pitchFamily="34" charset="-120"/>
              </a:rPr>
              <a:t>THE TOOL PROBLEM</a:t>
            </a:r>
            <a:endParaRPr lang="en-US" sz="1100" dirty="0"/>
          </a:p>
        </p:txBody>
      </p:sp>
      <p:sp>
        <p:nvSpPr>
          <p:cNvPr id="3" name="Text 1"/>
          <p:cNvSpPr/>
          <p:nvPr/>
        </p:nvSpPr>
        <p:spPr>
          <a:xfrm>
            <a:off x="457200" y="548640"/>
            <a:ext cx="8229600" cy="502920"/>
          </a:xfrm>
          <a:prstGeom prst="rect">
            <a:avLst/>
          </a:prstGeom>
          <a:noFill/>
          <a:ln/>
        </p:spPr>
        <p:txBody>
          <a:bodyPr wrap="square" rtlCol="0" anchor="ctr"/>
          <a:lstStyle/>
          <a:p>
            <a:pPr indent="0" marL="0">
              <a:buNone/>
            </a:pPr>
            <a:r>
              <a:rPr lang="en-US" sz="2400" b="1" dirty="0">
                <a:solidFill>
                  <a:srgbClr val="1C2B4A"/>
                </a:solidFill>
                <a:latin typeface="Georgia" pitchFamily="34" charset="0"/>
                <a:ea typeface="Georgia" pitchFamily="34" charset="-122"/>
                <a:cs typeface="Georgia" pitchFamily="34" charset="-120"/>
              </a:rPr>
              <a:t>Each tool sees one silo. Nobody sees the whole picture.</a:t>
            </a:r>
            <a:endParaRPr lang="en-US" sz="2400" dirty="0"/>
          </a:p>
        </p:txBody>
      </p:sp>
      <p:sp>
        <p:nvSpPr>
          <p:cNvPr id="4" name="Shape 2"/>
          <p:cNvSpPr/>
          <p:nvPr/>
        </p:nvSpPr>
        <p:spPr>
          <a:xfrm>
            <a:off x="320040" y="1234440"/>
            <a:ext cx="1463040" cy="914400"/>
          </a:xfrm>
          <a:prstGeom prst="rect">
            <a:avLst/>
          </a:prstGeom>
          <a:solidFill>
            <a:srgbClr val="E2E8F0"/>
          </a:solidFill>
          <a:ln/>
          <a:effectLst>
            <a:outerShdw sx="100000" sy="100000" kx="0" ky="0" algn="bl" rotWithShape="0" blurRad="101600" dist="25400" dir="8100000">
              <a:srgbClr val="000000">
                <a:alpha val="12000"/>
              </a:srgbClr>
            </a:outerShdw>
          </a:effectLst>
        </p:spPr>
      </p:sp>
      <p:sp>
        <p:nvSpPr>
          <p:cNvPr id="5" name="Text 3"/>
          <p:cNvSpPr/>
          <p:nvPr/>
        </p:nvSpPr>
        <p:spPr>
          <a:xfrm>
            <a:off x="320040" y="1234440"/>
            <a:ext cx="1463040" cy="914400"/>
          </a:xfrm>
          <a:prstGeom prst="rect">
            <a:avLst/>
          </a:prstGeom>
          <a:noFill/>
          <a:ln/>
        </p:spPr>
        <p:txBody>
          <a:bodyPr wrap="square" rtlCol="0" anchor="ctr"/>
          <a:lstStyle/>
          <a:p>
            <a:pPr algn="ctr" indent="0" marL="0">
              <a:buNone/>
            </a:pPr>
            <a:r>
              <a:rPr lang="en-US" sz="1300" b="1" dirty="0">
                <a:solidFill>
                  <a:srgbClr val="1C2B4A"/>
                </a:solidFill>
                <a:latin typeface="Calibri" pitchFamily="34" charset="0"/>
                <a:ea typeface="Calibri" pitchFamily="34" charset="-122"/>
                <a:cs typeface="Calibri" pitchFamily="34" charset="-120"/>
              </a:rPr>
              <a:t>Datadog</a:t>
            </a:r>
            <a:endParaRPr lang="en-US" sz="1300" dirty="0"/>
          </a:p>
        </p:txBody>
      </p:sp>
      <p:sp>
        <p:nvSpPr>
          <p:cNvPr id="6" name="Shape 4"/>
          <p:cNvSpPr/>
          <p:nvPr/>
        </p:nvSpPr>
        <p:spPr>
          <a:xfrm>
            <a:off x="1920240" y="1234440"/>
            <a:ext cx="1463040" cy="914400"/>
          </a:xfrm>
          <a:prstGeom prst="rect">
            <a:avLst/>
          </a:prstGeom>
          <a:solidFill>
            <a:srgbClr val="E2E8F0"/>
          </a:solidFill>
          <a:ln/>
          <a:effectLst>
            <a:outerShdw sx="100000" sy="100000" kx="0" ky="0" algn="bl" rotWithShape="0" blurRad="101600" dist="25400" dir="8100000">
              <a:srgbClr val="000000">
                <a:alpha val="12000"/>
              </a:srgbClr>
            </a:outerShdw>
          </a:effectLst>
        </p:spPr>
      </p:sp>
      <p:sp>
        <p:nvSpPr>
          <p:cNvPr id="7" name="Text 5"/>
          <p:cNvSpPr/>
          <p:nvPr/>
        </p:nvSpPr>
        <p:spPr>
          <a:xfrm>
            <a:off x="1920240" y="1234440"/>
            <a:ext cx="1463040" cy="914400"/>
          </a:xfrm>
          <a:prstGeom prst="rect">
            <a:avLst/>
          </a:prstGeom>
          <a:noFill/>
          <a:ln/>
        </p:spPr>
        <p:txBody>
          <a:bodyPr wrap="square" rtlCol="0" anchor="ctr"/>
          <a:lstStyle/>
          <a:p>
            <a:pPr algn="ctr" indent="0" marL="0">
              <a:buNone/>
            </a:pPr>
            <a:r>
              <a:rPr lang="en-US" sz="1300" b="1" dirty="0">
                <a:solidFill>
                  <a:srgbClr val="1C2B4A"/>
                </a:solidFill>
                <a:latin typeface="Calibri" pitchFamily="34" charset="0"/>
                <a:ea typeface="Calibri" pitchFamily="34" charset="-122"/>
                <a:cs typeface="Calibri" pitchFamily="34" charset="-120"/>
              </a:rPr>
              <a:t>Splunk</a:t>
            </a:r>
            <a:endParaRPr lang="en-US" sz="1300" dirty="0"/>
          </a:p>
        </p:txBody>
      </p:sp>
      <p:sp>
        <p:nvSpPr>
          <p:cNvPr id="8" name="Shape 6"/>
          <p:cNvSpPr/>
          <p:nvPr/>
        </p:nvSpPr>
        <p:spPr>
          <a:xfrm>
            <a:off x="3520440" y="1234440"/>
            <a:ext cx="1463040" cy="914400"/>
          </a:xfrm>
          <a:prstGeom prst="rect">
            <a:avLst/>
          </a:prstGeom>
          <a:solidFill>
            <a:srgbClr val="E2E8F0"/>
          </a:solidFill>
          <a:ln/>
          <a:effectLst>
            <a:outerShdw sx="100000" sy="100000" kx="0" ky="0" algn="bl" rotWithShape="0" blurRad="101600" dist="25400" dir="8100000">
              <a:srgbClr val="000000">
                <a:alpha val="12000"/>
              </a:srgbClr>
            </a:outerShdw>
          </a:effectLst>
        </p:spPr>
      </p:sp>
      <p:sp>
        <p:nvSpPr>
          <p:cNvPr id="9" name="Text 7"/>
          <p:cNvSpPr/>
          <p:nvPr/>
        </p:nvSpPr>
        <p:spPr>
          <a:xfrm>
            <a:off x="3520440" y="1234440"/>
            <a:ext cx="1463040" cy="914400"/>
          </a:xfrm>
          <a:prstGeom prst="rect">
            <a:avLst/>
          </a:prstGeom>
          <a:noFill/>
          <a:ln/>
        </p:spPr>
        <p:txBody>
          <a:bodyPr wrap="square" rtlCol="0" anchor="ctr"/>
          <a:lstStyle/>
          <a:p>
            <a:pPr algn="ctr" indent="0" marL="0">
              <a:buNone/>
            </a:pPr>
            <a:r>
              <a:rPr lang="en-US" sz="1300" b="1" dirty="0">
                <a:solidFill>
                  <a:srgbClr val="1C2B4A"/>
                </a:solidFill>
                <a:latin typeface="Calibri" pitchFamily="34" charset="0"/>
                <a:ea typeface="Calibri" pitchFamily="34" charset="-122"/>
                <a:cs typeface="Calibri" pitchFamily="34" charset="-120"/>
              </a:rPr>
              <a:t>Elastic</a:t>
            </a:r>
            <a:endParaRPr lang="en-US" sz="1300" dirty="0"/>
          </a:p>
        </p:txBody>
      </p:sp>
      <p:sp>
        <p:nvSpPr>
          <p:cNvPr id="10" name="Shape 8"/>
          <p:cNvSpPr/>
          <p:nvPr/>
        </p:nvSpPr>
        <p:spPr>
          <a:xfrm>
            <a:off x="5120640" y="1234440"/>
            <a:ext cx="1463040" cy="914400"/>
          </a:xfrm>
          <a:prstGeom prst="rect">
            <a:avLst/>
          </a:prstGeom>
          <a:solidFill>
            <a:srgbClr val="E2E8F0"/>
          </a:solidFill>
          <a:ln/>
          <a:effectLst>
            <a:outerShdw sx="100000" sy="100000" kx="0" ky="0" algn="bl" rotWithShape="0" blurRad="101600" dist="25400" dir="8100000">
              <a:srgbClr val="000000">
                <a:alpha val="12000"/>
              </a:srgbClr>
            </a:outerShdw>
          </a:effectLst>
        </p:spPr>
      </p:sp>
      <p:sp>
        <p:nvSpPr>
          <p:cNvPr id="11" name="Text 9"/>
          <p:cNvSpPr/>
          <p:nvPr/>
        </p:nvSpPr>
        <p:spPr>
          <a:xfrm>
            <a:off x="5120640" y="1234440"/>
            <a:ext cx="1463040" cy="914400"/>
          </a:xfrm>
          <a:prstGeom prst="rect">
            <a:avLst/>
          </a:prstGeom>
          <a:noFill/>
          <a:ln/>
        </p:spPr>
        <p:txBody>
          <a:bodyPr wrap="square" rtlCol="0" anchor="ctr"/>
          <a:lstStyle/>
          <a:p>
            <a:pPr algn="ctr" indent="0" marL="0">
              <a:buNone/>
            </a:pPr>
            <a:r>
              <a:rPr lang="en-US" sz="1300" b="1" dirty="0">
                <a:solidFill>
                  <a:srgbClr val="1C2B4A"/>
                </a:solidFill>
                <a:latin typeface="Calibri" pitchFamily="34" charset="0"/>
                <a:ea typeface="Calibri" pitchFamily="34" charset="-122"/>
                <a:cs typeface="Calibri" pitchFamily="34" charset="-120"/>
              </a:rPr>
              <a:t>Dynatrace</a:t>
            </a:r>
            <a:endParaRPr lang="en-US" sz="1300" dirty="0"/>
          </a:p>
        </p:txBody>
      </p:sp>
      <p:sp>
        <p:nvSpPr>
          <p:cNvPr id="12" name="Shape 10"/>
          <p:cNvSpPr/>
          <p:nvPr/>
        </p:nvSpPr>
        <p:spPr>
          <a:xfrm>
            <a:off x="6720840" y="1234440"/>
            <a:ext cx="1463040" cy="914400"/>
          </a:xfrm>
          <a:prstGeom prst="rect">
            <a:avLst/>
          </a:prstGeom>
          <a:solidFill>
            <a:srgbClr val="E2E8F0"/>
          </a:solidFill>
          <a:ln/>
          <a:effectLst>
            <a:outerShdw sx="100000" sy="100000" kx="0" ky="0" algn="bl" rotWithShape="0" blurRad="101600" dist="25400" dir="8100000">
              <a:srgbClr val="000000">
                <a:alpha val="12000"/>
              </a:srgbClr>
            </a:outerShdw>
          </a:effectLst>
        </p:spPr>
      </p:sp>
      <p:sp>
        <p:nvSpPr>
          <p:cNvPr id="13" name="Text 11"/>
          <p:cNvSpPr/>
          <p:nvPr/>
        </p:nvSpPr>
        <p:spPr>
          <a:xfrm>
            <a:off x="6720840" y="1234440"/>
            <a:ext cx="1463040" cy="914400"/>
          </a:xfrm>
          <a:prstGeom prst="rect">
            <a:avLst/>
          </a:prstGeom>
          <a:noFill/>
          <a:ln/>
        </p:spPr>
        <p:txBody>
          <a:bodyPr wrap="square" rtlCol="0" anchor="ctr"/>
          <a:lstStyle/>
          <a:p>
            <a:pPr algn="ctr" indent="0" marL="0">
              <a:buNone/>
            </a:pPr>
            <a:r>
              <a:rPr lang="en-US" sz="1300" b="1" dirty="0">
                <a:solidFill>
                  <a:srgbClr val="1C2B4A"/>
                </a:solidFill>
                <a:latin typeface="Calibri" pitchFamily="34" charset="0"/>
                <a:ea typeface="Calibri" pitchFamily="34" charset="-122"/>
                <a:cs typeface="Calibri" pitchFamily="34" charset="-120"/>
              </a:rPr>
              <a:t>Grafana</a:t>
            </a:r>
            <a:endParaRPr lang="en-US" sz="1300" dirty="0"/>
          </a:p>
        </p:txBody>
      </p:sp>
      <p:sp>
        <p:nvSpPr>
          <p:cNvPr id="14" name="Text 12"/>
          <p:cNvSpPr/>
          <p:nvPr/>
        </p:nvSpPr>
        <p:spPr>
          <a:xfrm>
            <a:off x="457200" y="2267712"/>
            <a:ext cx="8229600" cy="320040"/>
          </a:xfrm>
          <a:prstGeom prst="rect">
            <a:avLst/>
          </a:prstGeom>
          <a:noFill/>
          <a:ln/>
        </p:spPr>
        <p:txBody>
          <a:bodyPr wrap="square"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Each platform captures its data. None connect during an incident.</a:t>
            </a:r>
            <a:endParaRPr lang="en-US" sz="1200" dirty="0"/>
          </a:p>
        </p:txBody>
      </p:sp>
      <p:sp>
        <p:nvSpPr>
          <p:cNvPr id="15" name="Text 13"/>
          <p:cNvSpPr/>
          <p:nvPr/>
        </p:nvSpPr>
        <p:spPr>
          <a:xfrm>
            <a:off x="4114800" y="2587752"/>
            <a:ext cx="914400" cy="347472"/>
          </a:xfrm>
          <a:prstGeom prst="rect">
            <a:avLst/>
          </a:prstGeom>
          <a:noFill/>
          <a:ln/>
        </p:spPr>
        <p:txBody>
          <a:bodyPr wrap="square" rtlCol="0" anchor="ctr"/>
          <a:lstStyle/>
          <a:p>
            <a:pPr algn="ctr" indent="0" marL="0">
              <a:buNone/>
            </a:pPr>
            <a:r>
              <a:rPr lang="en-US" sz="2000" b="1" dirty="0">
                <a:solidFill>
                  <a:srgbClr val="3B7FD4"/>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365760" y="3017520"/>
            <a:ext cx="8412480" cy="1417320"/>
          </a:xfrm>
          <a:prstGeom prst="rect">
            <a:avLst/>
          </a:prstGeom>
          <a:solidFill>
            <a:srgbClr val="0A1628"/>
          </a:solidFill>
          <a:ln/>
          <a:effectLst>
            <a:outerShdw sx="100000" sy="100000" kx="0" ky="0" algn="bl" rotWithShape="0" blurRad="101600" dist="25400" dir="8100000">
              <a:srgbClr val="000000">
                <a:alpha val="12000"/>
              </a:srgbClr>
            </a:outerShdw>
          </a:effectLst>
        </p:spPr>
      </p:sp>
      <p:sp>
        <p:nvSpPr>
          <p:cNvPr id="17" name="Shape 15"/>
          <p:cNvSpPr/>
          <p:nvPr/>
        </p:nvSpPr>
        <p:spPr>
          <a:xfrm>
            <a:off x="365760" y="3017520"/>
            <a:ext cx="64008" cy="1417320"/>
          </a:xfrm>
          <a:prstGeom prst="rect">
            <a:avLst/>
          </a:prstGeom>
          <a:solidFill>
            <a:srgbClr val="3B7FD4"/>
          </a:solidFill>
          <a:ln/>
        </p:spPr>
      </p:sp>
      <p:sp>
        <p:nvSpPr>
          <p:cNvPr id="18" name="Text 16"/>
          <p:cNvSpPr/>
          <p:nvPr/>
        </p:nvSpPr>
        <p:spPr>
          <a:xfrm>
            <a:off x="594360" y="3108960"/>
            <a:ext cx="7772400" cy="86868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 have not seen an AI solution that can pull from logs from one platform, metrics from another, traces from another, and then give you causal AI inferences off of all of that data living in separate places."</a:t>
            </a:r>
            <a:endParaRPr lang="en-US" sz="1300" dirty="0"/>
          </a:p>
        </p:txBody>
      </p:sp>
      <p:sp>
        <p:nvSpPr>
          <p:cNvPr id="19" name="Text 17"/>
          <p:cNvSpPr/>
          <p:nvPr/>
        </p:nvSpPr>
        <p:spPr>
          <a:xfrm>
            <a:off x="594360" y="4005072"/>
            <a:ext cx="7772400" cy="256032"/>
          </a:xfrm>
          <a:prstGeom prst="rect">
            <a:avLst/>
          </a:prstGeom>
          <a:noFill/>
          <a:ln/>
        </p:spPr>
        <p:txBody>
          <a:bodyPr wrap="square" rtlCol="0" anchor="ctr"/>
          <a:lstStyle/>
          <a:p>
            <a:pPr indent="0" marL="0">
              <a:buNone/>
            </a:pPr>
            <a:r>
              <a:rPr lang="en-US" sz="1100" dirty="0">
                <a:solidFill>
                  <a:srgbClr val="63A0E0"/>
                </a:solidFill>
                <a:latin typeface="Calibri" pitchFamily="34" charset="0"/>
                <a:ea typeface="Calibri" pitchFamily="34" charset="-122"/>
                <a:cs typeface="Calibri" pitchFamily="34" charset="-120"/>
              </a:rPr>
              <a:t>— Mike Kennedy, SRE / Observability Lead, JPMorgan Chase</a:t>
            </a:r>
            <a:endParaRPr lang="en-US" sz="1100" dirty="0"/>
          </a:p>
        </p:txBody>
      </p:sp>
      <p:sp>
        <p:nvSpPr>
          <p:cNvPr id="20" name="Text 18"/>
          <p:cNvSpPr/>
          <p:nvPr/>
        </p:nvSpPr>
        <p:spPr>
          <a:xfrm>
            <a:off x="457200" y="4736592"/>
            <a:ext cx="8229600" cy="274320"/>
          </a:xfrm>
          <a:prstGeom prst="rect">
            <a:avLst/>
          </a:prstGeom>
          <a:noFill/>
          <a:ln/>
        </p:spPr>
        <p:txBody>
          <a:bodyPr wrap="square" rtlCol="0" anchor="ctr"/>
          <a:lstStyle/>
          <a:p>
            <a:pPr algn="ctr" indent="0" marL="0">
              <a:buNone/>
            </a:pPr>
            <a:r>
              <a:rPr lang="en-US" sz="1300" b="1" dirty="0">
                <a:solidFill>
                  <a:srgbClr val="3B7FD4"/>
                </a:solidFill>
                <a:latin typeface="Calibri" pitchFamily="34" charset="0"/>
                <a:ea typeface="Calibri" pitchFamily="34" charset="-122"/>
                <a:cs typeface="Calibri" pitchFamily="34" charset="-120"/>
              </a:rPr>
              <a:t>The tools were built to collect. Not to reason.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6400800" cy="256032"/>
          </a:xfrm>
          <a:prstGeom prst="rect">
            <a:avLst/>
          </a:prstGeom>
          <a:noFill/>
          <a:ln/>
        </p:spPr>
        <p:txBody>
          <a:bodyPr wrap="square" rtlCol="0" anchor="ctr"/>
          <a:lstStyle/>
          <a:p>
            <a:pPr indent="0" marL="0">
              <a:buNone/>
            </a:pPr>
            <a:r>
              <a:rPr lang="en-US" sz="1100" b="1" spc="300" kern="0" dirty="0">
                <a:solidFill>
                  <a:srgbClr val="3B7FD4"/>
                </a:solidFill>
                <a:latin typeface="Calibri" pitchFamily="34" charset="0"/>
                <a:ea typeface="Calibri" pitchFamily="34" charset="-122"/>
                <a:cs typeface="Calibri" pitchFamily="34" charset="-120"/>
              </a:rPr>
              <a:t>THE HUMAN PROBLEM</a:t>
            </a:r>
            <a:endParaRPr lang="en-US" sz="1100" dirty="0"/>
          </a:p>
        </p:txBody>
      </p:sp>
      <p:sp>
        <p:nvSpPr>
          <p:cNvPr id="3" name="Text 1"/>
          <p:cNvSpPr/>
          <p:nvPr/>
        </p:nvSpPr>
        <p:spPr>
          <a:xfrm>
            <a:off x="457200" y="548640"/>
            <a:ext cx="8229600" cy="502920"/>
          </a:xfrm>
          <a:prstGeom prst="rect">
            <a:avLst/>
          </a:prstGeom>
          <a:noFill/>
          <a:ln/>
        </p:spPr>
        <p:txBody>
          <a:bodyPr wrap="square" rtlCol="0" anchor="ctr"/>
          <a:lstStyle/>
          <a:p>
            <a:pPr indent="0" marL="0">
              <a:buNone/>
            </a:pPr>
            <a:r>
              <a:rPr lang="en-US" sz="2400" b="1" dirty="0">
                <a:solidFill>
                  <a:srgbClr val="1C2B4A"/>
                </a:solidFill>
                <a:latin typeface="Georgia" pitchFamily="34" charset="0"/>
                <a:ea typeface="Georgia" pitchFamily="34" charset="-122"/>
                <a:cs typeface="Georgia" pitchFamily="34" charset="-120"/>
              </a:rPr>
              <a:t>Understanding is trapped in too few people.</a:t>
            </a:r>
            <a:endParaRPr lang="en-US" sz="2400" dirty="0"/>
          </a:p>
        </p:txBody>
      </p:sp>
      <p:sp>
        <p:nvSpPr>
          <p:cNvPr id="4" name="Shape 2"/>
          <p:cNvSpPr/>
          <p:nvPr/>
        </p:nvSpPr>
        <p:spPr>
          <a:xfrm>
            <a:off x="320040" y="1234440"/>
            <a:ext cx="2651760" cy="2148840"/>
          </a:xfrm>
          <a:prstGeom prst="rect">
            <a:avLst/>
          </a:prstGeom>
          <a:solidFill>
            <a:srgbClr val="EBF2FF"/>
          </a:solidFill>
          <a:ln/>
          <a:effectLst>
            <a:outerShdw sx="100000" sy="100000" kx="0" ky="0" algn="bl" rotWithShape="0" blurRad="101600" dist="25400" dir="8100000">
              <a:srgbClr val="000000">
                <a:alpha val="12000"/>
              </a:srgbClr>
            </a:outerShdw>
          </a:effectLst>
        </p:spPr>
      </p:sp>
      <p:sp>
        <p:nvSpPr>
          <p:cNvPr id="5" name="Shape 3"/>
          <p:cNvSpPr/>
          <p:nvPr/>
        </p:nvSpPr>
        <p:spPr>
          <a:xfrm>
            <a:off x="320040" y="1234440"/>
            <a:ext cx="64008" cy="2148840"/>
          </a:xfrm>
          <a:prstGeom prst="rect">
            <a:avLst/>
          </a:prstGeom>
          <a:solidFill>
            <a:srgbClr val="3B7FD4"/>
          </a:solidFill>
          <a:ln/>
        </p:spPr>
      </p:sp>
      <p:sp>
        <p:nvSpPr>
          <p:cNvPr id="6" name="Text 4"/>
          <p:cNvSpPr/>
          <p:nvPr/>
        </p:nvSpPr>
        <p:spPr>
          <a:xfrm>
            <a:off x="530352" y="1371600"/>
            <a:ext cx="2286000" cy="256032"/>
          </a:xfrm>
          <a:prstGeom prst="rect">
            <a:avLst/>
          </a:prstGeom>
          <a:noFill/>
          <a:ln/>
        </p:spPr>
        <p:txBody>
          <a:bodyPr wrap="square" rtlCol="0" anchor="ctr"/>
          <a:lstStyle/>
          <a:p>
            <a:pPr indent="0" marL="0">
              <a:buNone/>
            </a:pPr>
            <a:r>
              <a:rPr lang="en-US" sz="900" b="1" spc="100" kern="0" dirty="0">
                <a:solidFill>
                  <a:srgbClr val="3B7FD4"/>
                </a:solidFill>
                <a:latin typeface="Calibri" pitchFamily="34" charset="0"/>
                <a:ea typeface="Calibri" pitchFamily="34" charset="-122"/>
                <a:cs typeface="Calibri" pitchFamily="34" charset="-120"/>
              </a:rPr>
              <a:t>MILLENNIUM PARTNERS LP</a:t>
            </a:r>
            <a:endParaRPr lang="en-US" sz="900" dirty="0"/>
          </a:p>
        </p:txBody>
      </p:sp>
      <p:sp>
        <p:nvSpPr>
          <p:cNvPr id="7" name="Text 5"/>
          <p:cNvSpPr/>
          <p:nvPr/>
        </p:nvSpPr>
        <p:spPr>
          <a:xfrm>
            <a:off x="530352" y="1627632"/>
            <a:ext cx="2286000" cy="594360"/>
          </a:xfrm>
          <a:prstGeom prst="rect">
            <a:avLst/>
          </a:prstGeom>
          <a:noFill/>
          <a:ln/>
        </p:spPr>
        <p:txBody>
          <a:bodyPr wrap="square" rtlCol="0" anchor="ctr"/>
          <a:lstStyle/>
          <a:p>
            <a:pPr indent="0" marL="0">
              <a:buNone/>
            </a:pPr>
            <a:r>
              <a:rPr lang="en-US" sz="3200" b="1" dirty="0">
                <a:solidFill>
                  <a:srgbClr val="1C2B4A"/>
                </a:solidFill>
                <a:latin typeface="Georgia" pitchFamily="34" charset="0"/>
                <a:ea typeface="Georgia" pitchFamily="34" charset="-122"/>
                <a:cs typeface="Georgia" pitchFamily="34" charset="-120"/>
              </a:rPr>
              <a:t>40→6</a:t>
            </a:r>
            <a:endParaRPr lang="en-US" sz="3200" dirty="0"/>
          </a:p>
        </p:txBody>
      </p:sp>
      <p:sp>
        <p:nvSpPr>
          <p:cNvPr id="8" name="Text 6"/>
          <p:cNvSpPr/>
          <p:nvPr/>
        </p:nvSpPr>
        <p:spPr>
          <a:xfrm>
            <a:off x="530352" y="2286000"/>
            <a:ext cx="2286000" cy="868680"/>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Engineers on a bridge call. Only 6 speak — for over an hour.</a:t>
            </a:r>
            <a:endParaRPr lang="en-US" sz="1100" dirty="0"/>
          </a:p>
        </p:txBody>
      </p:sp>
      <p:sp>
        <p:nvSpPr>
          <p:cNvPr id="9" name="Shape 7"/>
          <p:cNvSpPr/>
          <p:nvPr/>
        </p:nvSpPr>
        <p:spPr>
          <a:xfrm>
            <a:off x="3246120" y="1234440"/>
            <a:ext cx="2651760" cy="2148840"/>
          </a:xfrm>
          <a:prstGeom prst="rect">
            <a:avLst/>
          </a:prstGeom>
          <a:solidFill>
            <a:srgbClr val="EBF2FF"/>
          </a:solidFill>
          <a:ln/>
          <a:effectLst>
            <a:outerShdw sx="100000" sy="100000" kx="0" ky="0" algn="bl" rotWithShape="0" blurRad="101600" dist="25400" dir="8100000">
              <a:srgbClr val="000000">
                <a:alpha val="12000"/>
              </a:srgbClr>
            </a:outerShdw>
          </a:effectLst>
        </p:spPr>
      </p:sp>
      <p:sp>
        <p:nvSpPr>
          <p:cNvPr id="10" name="Shape 8"/>
          <p:cNvSpPr/>
          <p:nvPr/>
        </p:nvSpPr>
        <p:spPr>
          <a:xfrm>
            <a:off x="3246120" y="1234440"/>
            <a:ext cx="64008" cy="2148840"/>
          </a:xfrm>
          <a:prstGeom prst="rect">
            <a:avLst/>
          </a:prstGeom>
          <a:solidFill>
            <a:srgbClr val="3B7FD4"/>
          </a:solidFill>
          <a:ln/>
        </p:spPr>
      </p:sp>
      <p:sp>
        <p:nvSpPr>
          <p:cNvPr id="11" name="Text 9"/>
          <p:cNvSpPr/>
          <p:nvPr/>
        </p:nvSpPr>
        <p:spPr>
          <a:xfrm>
            <a:off x="3456432" y="1371600"/>
            <a:ext cx="2286000" cy="256032"/>
          </a:xfrm>
          <a:prstGeom prst="rect">
            <a:avLst/>
          </a:prstGeom>
          <a:noFill/>
          <a:ln/>
        </p:spPr>
        <p:txBody>
          <a:bodyPr wrap="square" rtlCol="0" anchor="ctr"/>
          <a:lstStyle/>
          <a:p>
            <a:pPr indent="0" marL="0">
              <a:buNone/>
            </a:pPr>
            <a:r>
              <a:rPr lang="en-US" sz="900" b="1" spc="100" kern="0" dirty="0">
                <a:solidFill>
                  <a:srgbClr val="3B7FD4"/>
                </a:solidFill>
                <a:latin typeface="Calibri" pitchFamily="34" charset="0"/>
                <a:ea typeface="Calibri" pitchFamily="34" charset="-122"/>
                <a:cs typeface="Calibri" pitchFamily="34" charset="-120"/>
              </a:rPr>
              <a:t>ADP</a:t>
            </a:r>
            <a:endParaRPr lang="en-US" sz="900" dirty="0"/>
          </a:p>
        </p:txBody>
      </p:sp>
      <p:sp>
        <p:nvSpPr>
          <p:cNvPr id="12" name="Text 10"/>
          <p:cNvSpPr/>
          <p:nvPr/>
        </p:nvSpPr>
        <p:spPr>
          <a:xfrm>
            <a:off x="3456432" y="1627632"/>
            <a:ext cx="2286000" cy="594360"/>
          </a:xfrm>
          <a:prstGeom prst="rect">
            <a:avLst/>
          </a:prstGeom>
          <a:noFill/>
          <a:ln/>
        </p:spPr>
        <p:txBody>
          <a:bodyPr wrap="square" rtlCol="0" anchor="ctr"/>
          <a:lstStyle/>
          <a:p>
            <a:pPr indent="0" marL="0">
              <a:buNone/>
            </a:pPr>
            <a:r>
              <a:rPr lang="en-US" sz="3200" b="1" dirty="0">
                <a:solidFill>
                  <a:srgbClr val="1C2B4A"/>
                </a:solidFill>
                <a:latin typeface="Georgia" pitchFamily="34" charset="0"/>
                <a:ea typeface="Georgia" pitchFamily="34" charset="-122"/>
                <a:cs typeface="Georgia" pitchFamily="34" charset="-120"/>
              </a:rPr>
              <a:t>3–4</a:t>
            </a:r>
            <a:endParaRPr lang="en-US" sz="3200" dirty="0"/>
          </a:p>
        </p:txBody>
      </p:sp>
      <p:sp>
        <p:nvSpPr>
          <p:cNvPr id="13" name="Text 11"/>
          <p:cNvSpPr/>
          <p:nvPr/>
        </p:nvSpPr>
        <p:spPr>
          <a:xfrm>
            <a:off x="3456432" y="2286000"/>
            <a:ext cx="2286000" cy="868680"/>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People who "happen to know something." Must be located under time pressure. May be on PTO.</a:t>
            </a:r>
            <a:endParaRPr lang="en-US" sz="1100" dirty="0"/>
          </a:p>
        </p:txBody>
      </p:sp>
      <p:sp>
        <p:nvSpPr>
          <p:cNvPr id="14" name="Shape 12"/>
          <p:cNvSpPr/>
          <p:nvPr/>
        </p:nvSpPr>
        <p:spPr>
          <a:xfrm>
            <a:off x="6172200" y="1234440"/>
            <a:ext cx="2651760" cy="2148840"/>
          </a:xfrm>
          <a:prstGeom prst="rect">
            <a:avLst/>
          </a:prstGeom>
          <a:solidFill>
            <a:srgbClr val="EBF2FF"/>
          </a:solidFill>
          <a:ln/>
          <a:effectLst>
            <a:outerShdw sx="100000" sy="100000" kx="0" ky="0" algn="bl" rotWithShape="0" blurRad="101600" dist="25400" dir="8100000">
              <a:srgbClr val="000000">
                <a:alpha val="12000"/>
              </a:srgbClr>
            </a:outerShdw>
          </a:effectLst>
        </p:spPr>
      </p:sp>
      <p:sp>
        <p:nvSpPr>
          <p:cNvPr id="15" name="Shape 13"/>
          <p:cNvSpPr/>
          <p:nvPr/>
        </p:nvSpPr>
        <p:spPr>
          <a:xfrm>
            <a:off x="6172200" y="1234440"/>
            <a:ext cx="64008" cy="2148840"/>
          </a:xfrm>
          <a:prstGeom prst="rect">
            <a:avLst/>
          </a:prstGeom>
          <a:solidFill>
            <a:srgbClr val="3B7FD4"/>
          </a:solidFill>
          <a:ln/>
        </p:spPr>
      </p:sp>
      <p:sp>
        <p:nvSpPr>
          <p:cNvPr id="16" name="Text 14"/>
          <p:cNvSpPr/>
          <p:nvPr/>
        </p:nvSpPr>
        <p:spPr>
          <a:xfrm>
            <a:off x="6382512" y="1371600"/>
            <a:ext cx="2286000" cy="256032"/>
          </a:xfrm>
          <a:prstGeom prst="rect">
            <a:avLst/>
          </a:prstGeom>
          <a:noFill/>
          <a:ln/>
        </p:spPr>
        <p:txBody>
          <a:bodyPr wrap="square" rtlCol="0" anchor="ctr"/>
          <a:lstStyle/>
          <a:p>
            <a:pPr indent="0" marL="0">
              <a:buNone/>
            </a:pPr>
            <a:r>
              <a:rPr lang="en-US" sz="900" b="1" spc="100" kern="0" dirty="0">
                <a:solidFill>
                  <a:srgbClr val="3B7FD4"/>
                </a:solidFill>
                <a:latin typeface="Calibri" pitchFamily="34" charset="0"/>
                <a:ea typeface="Calibri" pitchFamily="34" charset="-122"/>
                <a:cs typeface="Calibri" pitchFamily="34" charset="-120"/>
              </a:rPr>
              <a:t>ZSCALER</a:t>
            </a:r>
            <a:endParaRPr lang="en-US" sz="900" dirty="0"/>
          </a:p>
        </p:txBody>
      </p:sp>
      <p:sp>
        <p:nvSpPr>
          <p:cNvPr id="17" name="Text 15"/>
          <p:cNvSpPr/>
          <p:nvPr/>
        </p:nvSpPr>
        <p:spPr>
          <a:xfrm>
            <a:off x="6382512" y="1627632"/>
            <a:ext cx="2286000" cy="594360"/>
          </a:xfrm>
          <a:prstGeom prst="rect">
            <a:avLst/>
          </a:prstGeom>
          <a:noFill/>
          <a:ln/>
        </p:spPr>
        <p:txBody>
          <a:bodyPr wrap="square" rtlCol="0" anchor="ctr"/>
          <a:lstStyle/>
          <a:p>
            <a:pPr indent="0" marL="0">
              <a:buNone/>
            </a:pPr>
            <a:r>
              <a:rPr lang="en-US" sz="3200" b="1" dirty="0">
                <a:solidFill>
                  <a:srgbClr val="1C2B4A"/>
                </a:solidFill>
                <a:latin typeface="Georgia" pitchFamily="34" charset="0"/>
                <a:ea typeface="Georgia" pitchFamily="34" charset="-122"/>
                <a:cs typeface="Georgia" pitchFamily="34" charset="-120"/>
              </a:rPr>
              <a:t>2–3</a:t>
            </a:r>
            <a:endParaRPr lang="en-US" sz="3200" dirty="0"/>
          </a:p>
        </p:txBody>
      </p:sp>
      <p:sp>
        <p:nvSpPr>
          <p:cNvPr id="18" name="Text 16"/>
          <p:cNvSpPr/>
          <p:nvPr/>
        </p:nvSpPr>
        <p:spPr>
          <a:xfrm>
            <a:off x="6382512" y="2286000"/>
            <a:ext cx="2286000" cy="868680"/>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Architects who know the full ZIA topology. Others: SSH into nodes, download logs manually to laptop.</a:t>
            </a:r>
            <a:endParaRPr lang="en-US" sz="1100" dirty="0"/>
          </a:p>
        </p:txBody>
      </p:sp>
      <p:sp>
        <p:nvSpPr>
          <p:cNvPr id="19" name="Shape 17"/>
          <p:cNvSpPr/>
          <p:nvPr/>
        </p:nvSpPr>
        <p:spPr>
          <a:xfrm>
            <a:off x="365760" y="3520440"/>
            <a:ext cx="8412480" cy="960120"/>
          </a:xfrm>
          <a:prstGeom prst="rect">
            <a:avLst/>
          </a:prstGeom>
          <a:solidFill>
            <a:srgbClr val="1C2B4A"/>
          </a:solidFill>
          <a:ln/>
          <a:effectLst>
            <a:outerShdw sx="100000" sy="100000" kx="0" ky="0" algn="bl" rotWithShape="0" blurRad="101600" dist="25400" dir="8100000">
              <a:srgbClr val="000000">
                <a:alpha val="12000"/>
              </a:srgbClr>
            </a:outerShdw>
          </a:effectLst>
        </p:spPr>
      </p:sp>
      <p:sp>
        <p:nvSpPr>
          <p:cNvPr id="20" name="Shape 18"/>
          <p:cNvSpPr/>
          <p:nvPr/>
        </p:nvSpPr>
        <p:spPr>
          <a:xfrm>
            <a:off x="365760" y="3520440"/>
            <a:ext cx="64008" cy="960120"/>
          </a:xfrm>
          <a:prstGeom prst="rect">
            <a:avLst/>
          </a:prstGeom>
          <a:solidFill>
            <a:srgbClr val="3B7FD4"/>
          </a:solidFill>
          <a:ln/>
        </p:spPr>
      </p:sp>
      <p:sp>
        <p:nvSpPr>
          <p:cNvPr id="21" name="Text 19"/>
          <p:cNvSpPr/>
          <p:nvPr/>
        </p:nvSpPr>
        <p:spPr>
          <a:xfrm>
            <a:off x="594360" y="3602736"/>
            <a:ext cx="7315200" cy="566928"/>
          </a:xfrm>
          <a:prstGeom prst="rect">
            <a:avLst/>
          </a:prstGeom>
          <a:noFill/>
          <a:ln/>
        </p:spPr>
        <p:txBody>
          <a:bodyPr wrap="square"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"We need to double every X year. We cannot keep on doing that."</a:t>
            </a:r>
            <a:endParaRPr lang="en-US" sz="1500" dirty="0"/>
          </a:p>
        </p:txBody>
      </p:sp>
      <p:sp>
        <p:nvSpPr>
          <p:cNvPr id="22" name="Text 20"/>
          <p:cNvSpPr/>
          <p:nvPr/>
        </p:nvSpPr>
        <p:spPr>
          <a:xfrm>
            <a:off x="594360" y="4169664"/>
            <a:ext cx="7315200" cy="256032"/>
          </a:xfrm>
          <a:prstGeom prst="rect">
            <a:avLst/>
          </a:prstGeom>
          <a:noFill/>
          <a:ln/>
        </p:spPr>
        <p:txBody>
          <a:bodyPr wrap="square" rtlCol="0" anchor="ctr"/>
          <a:lstStyle/>
          <a:p>
            <a:pPr indent="0" marL="0">
              <a:buNone/>
            </a:pPr>
            <a:r>
              <a:rPr lang="en-US" sz="1100" dirty="0">
                <a:solidFill>
                  <a:srgbClr val="63A0E0"/>
                </a:solidFill>
                <a:latin typeface="Calibri" pitchFamily="34" charset="0"/>
                <a:ea typeface="Calibri" pitchFamily="34" charset="-122"/>
                <a:cs typeface="Calibri" pitchFamily="34" charset="-120"/>
              </a:rPr>
              <a:t>— Rob Cherry, Head of Infrastructure, Millennium Partners LP</a:t>
            </a:r>
            <a:endParaRPr lang="en-US" sz="1100" dirty="0"/>
          </a:p>
        </p:txBody>
      </p:sp>
      <p:sp>
        <p:nvSpPr>
          <p:cNvPr id="23" name="Text 21"/>
          <p:cNvSpPr/>
          <p:nvPr/>
        </p:nvSpPr>
        <p:spPr>
          <a:xfrm>
            <a:off x="457200" y="4745736"/>
            <a:ext cx="8229600" cy="256032"/>
          </a:xfrm>
          <a:prstGeom prst="rect">
            <a:avLst/>
          </a:prstGeom>
          <a:noFill/>
          <a:ln/>
        </p:spPr>
        <p:txBody>
          <a:bodyPr wrap="square" rtlCol="0" anchor="ctr"/>
          <a:lstStyle/>
          <a:p>
            <a:pPr algn="ctr" indent="0" marL="0">
              <a:buNone/>
            </a:pPr>
            <a:r>
              <a:rPr lang="en-US" sz="1300" b="1" dirty="0">
                <a:solidFill>
                  <a:srgbClr val="3B7FD4"/>
                </a:solidFill>
                <a:latin typeface="Calibri" pitchFamily="34" charset="0"/>
                <a:ea typeface="Calibri" pitchFamily="34" charset="-122"/>
                <a:cs typeface="Calibri" pitchFamily="34" charset="-120"/>
              </a:rPr>
              <a:t>It's not a hiring problem. It's a model problem.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74320"/>
            <a:ext cx="4572000" cy="256032"/>
          </a:xfrm>
          <a:prstGeom prst="rect">
            <a:avLst/>
          </a:prstGeom>
          <a:noFill/>
          <a:ln/>
        </p:spPr>
        <p:txBody>
          <a:bodyPr wrap="square" rtlCol="0" anchor="ctr"/>
          <a:lstStyle/>
          <a:p>
            <a:pPr indent="0" marL="0">
              <a:buNone/>
            </a:pPr>
            <a:r>
              <a:rPr lang="en-US" sz="1100" b="1" spc="300" kern="0" dirty="0">
                <a:solidFill>
                  <a:srgbClr val="63A0E0"/>
                </a:solidFill>
                <a:latin typeface="Calibri" pitchFamily="34" charset="0"/>
                <a:ea typeface="Calibri" pitchFamily="34" charset="-122"/>
                <a:cs typeface="Calibri" pitchFamily="34" charset="-120"/>
              </a:rPr>
              <a:t>THE RESULT</a:t>
            </a:r>
            <a:endParaRPr lang="en-US" sz="1100" dirty="0"/>
          </a:p>
        </p:txBody>
      </p:sp>
      <p:sp>
        <p:nvSpPr>
          <p:cNvPr id="3" name="Text 1"/>
          <p:cNvSpPr/>
          <p:nvPr/>
        </p:nvSpPr>
        <p:spPr>
          <a:xfrm>
            <a:off x="457200" y="1005840"/>
            <a:ext cx="8229600" cy="73152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Your customers find</a:t>
            </a:r>
            <a:endParaRPr lang="en-US" sz="4000" dirty="0"/>
          </a:p>
        </p:txBody>
      </p:sp>
      <p:sp>
        <p:nvSpPr>
          <p:cNvPr id="4" name="Text 2"/>
          <p:cNvSpPr/>
          <p:nvPr/>
        </p:nvSpPr>
        <p:spPr>
          <a:xfrm>
            <a:off x="457200" y="1737360"/>
            <a:ext cx="8229600" cy="731520"/>
          </a:xfrm>
          <a:prstGeom prst="rect">
            <a:avLst/>
          </a:prstGeom>
          <a:noFill/>
          <a:ln/>
        </p:spPr>
        <p:txBody>
          <a:bodyPr wrap="square" rtlCol="0" anchor="ctr"/>
          <a:lstStyle/>
          <a:p>
            <a:pPr algn="ctr" indent="0" marL="0">
              <a:buNone/>
            </a:pPr>
            <a:r>
              <a:rPr lang="en-US" sz="4000" b="1" dirty="0">
                <a:solidFill>
                  <a:srgbClr val="3B7FD4"/>
                </a:solidFill>
                <a:latin typeface="Georgia" pitchFamily="34" charset="0"/>
                <a:ea typeface="Georgia" pitchFamily="34" charset="-122"/>
                <a:cs typeface="Georgia" pitchFamily="34" charset="-120"/>
              </a:rPr>
              <a:t>problems before you do.</a:t>
            </a:r>
            <a:endParaRPr lang="en-US" sz="4000" dirty="0"/>
          </a:p>
        </p:txBody>
      </p:sp>
      <p:sp>
        <p:nvSpPr>
          <p:cNvPr id="5" name="Shape 3"/>
          <p:cNvSpPr/>
          <p:nvPr/>
        </p:nvSpPr>
        <p:spPr>
          <a:xfrm>
            <a:off x="3200400" y="2606040"/>
            <a:ext cx="2743200" cy="36576"/>
          </a:xfrm>
          <a:prstGeom prst="rect">
            <a:avLst/>
          </a:prstGeom>
          <a:solidFill>
            <a:srgbClr val="1E3A5F"/>
          </a:solidFill>
          <a:ln/>
        </p:spPr>
      </p:sp>
      <p:sp>
        <p:nvSpPr>
          <p:cNvPr id="6" name="Text 4"/>
          <p:cNvSpPr/>
          <p:nvPr/>
        </p:nvSpPr>
        <p:spPr>
          <a:xfrm>
            <a:off x="914400" y="2724912"/>
            <a:ext cx="7315200" cy="777240"/>
          </a:xfrm>
          <a:prstGeom prst="rect">
            <a:avLst/>
          </a:prstGeom>
          <a:noFill/>
          <a:ln/>
        </p:spPr>
        <p:txBody>
          <a:bodyPr wrap="square" rtlCol="0" anchor="ctr"/>
          <a:lstStyle/>
          <a:p>
            <a:pPr algn="ctr" indent="0" marL="0">
              <a:buNone/>
            </a:pPr>
            <a:r>
              <a:rPr lang="en-US" sz="1400" i="1" dirty="0">
                <a:solidFill>
                  <a:srgbClr val="8899AA"/>
                </a:solidFill>
                <a:latin typeface="Calibri" pitchFamily="34" charset="0"/>
                <a:ea typeface="Calibri" pitchFamily="34" charset="-122"/>
                <a:cs typeface="Calibri" pitchFamily="34" charset="-120"/>
              </a:rPr>
              <a:t>"MTTR is high — meantime to resolution takes us a long time. Customers act as canaries so they find the problem before we do."</a:t>
            </a:r>
            <a:endParaRPr lang="en-US" sz="1400" dirty="0"/>
          </a:p>
        </p:txBody>
      </p:sp>
      <p:sp>
        <p:nvSpPr>
          <p:cNvPr id="7" name="Text 5"/>
          <p:cNvSpPr/>
          <p:nvPr/>
        </p:nvSpPr>
        <p:spPr>
          <a:xfrm>
            <a:off x="914400" y="3520440"/>
            <a:ext cx="7315200" cy="274320"/>
          </a:xfrm>
          <a:prstGeom prst="rect">
            <a:avLst/>
          </a:prstGeom>
          <a:noFill/>
          <a:ln/>
        </p:spPr>
        <p:txBody>
          <a:bodyPr wrap="square" rtlCol="0" anchor="ctr"/>
          <a:lstStyle/>
          <a:p>
            <a:pPr algn="ctr" indent="0" marL="0">
              <a:buNone/>
            </a:pPr>
            <a:r>
              <a:rPr lang="en-US" sz="1200" dirty="0">
                <a:solidFill>
                  <a:srgbClr val="63A0E0"/>
                </a:solidFill>
                <a:latin typeface="Calibri" pitchFamily="34" charset="0"/>
                <a:ea typeface="Calibri" pitchFamily="34" charset="-122"/>
                <a:cs typeface="Calibri" pitchFamily="34" charset="-120"/>
              </a:rPr>
              <a:t>— Anestis Samaras, Group Head of Data Science, Lloyds Banking Group</a:t>
            </a:r>
            <a:endParaRPr lang="en-US" sz="1200" dirty="0"/>
          </a:p>
        </p:txBody>
      </p:sp>
      <p:sp>
        <p:nvSpPr>
          <p:cNvPr id="8" name="Shape 6"/>
          <p:cNvSpPr/>
          <p:nvPr/>
        </p:nvSpPr>
        <p:spPr>
          <a:xfrm>
            <a:off x="0" y="4343400"/>
            <a:ext cx="9144000" cy="525780"/>
          </a:xfrm>
          <a:prstGeom prst="rect">
            <a:avLst/>
          </a:prstGeom>
          <a:solidFill>
            <a:srgbClr val="1E3A5F"/>
          </a:solidFill>
          <a:ln/>
        </p:spPr>
      </p:sp>
      <p:sp>
        <p:nvSpPr>
          <p:cNvPr id="9" name="Text 7"/>
          <p:cNvSpPr/>
          <p:nvPr/>
        </p:nvSpPr>
        <p:spPr>
          <a:xfrm>
            <a:off x="457200" y="4453128"/>
            <a:ext cx="822960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monitoring layer is working. The interpretation layer is missing.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56032"/>
            <a:ext cx="6400800" cy="256032"/>
          </a:xfrm>
          <a:prstGeom prst="rect">
            <a:avLst/>
          </a:prstGeom>
          <a:noFill/>
          <a:ln/>
        </p:spPr>
        <p:txBody>
          <a:bodyPr wrap="square" rtlCol="0" anchor="ctr"/>
          <a:lstStyle/>
          <a:p>
            <a:pPr indent="0" marL="0">
              <a:buNone/>
            </a:pPr>
            <a:r>
              <a:rPr lang="en-US" sz="1100" b="1" spc="300" kern="0" dirty="0">
                <a:solidFill>
                  <a:srgbClr val="63A0E0"/>
                </a:solidFill>
                <a:latin typeface="Calibri" pitchFamily="34" charset="0"/>
                <a:ea typeface="Calibri" pitchFamily="34" charset="-122"/>
                <a:cs typeface="Calibri" pitchFamily="34" charset="-120"/>
              </a:rPr>
              <a:t>PROOF OF CATEGORY</a:t>
            </a:r>
            <a:endParaRPr lang="en-US" sz="1100" dirty="0"/>
          </a:p>
        </p:txBody>
      </p:sp>
      <p:sp>
        <p:nvSpPr>
          <p:cNvPr id="3" name="Text 1"/>
          <p:cNvSpPr/>
          <p:nvPr/>
        </p:nvSpPr>
        <p:spPr>
          <a:xfrm>
            <a:off x="457200" y="576072"/>
            <a:ext cx="8229600" cy="59436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The most sophisticated engineering orgs already built the solution.</a:t>
            </a:r>
            <a:endParaRPr lang="en-US" sz="2400" dirty="0"/>
          </a:p>
        </p:txBody>
      </p:sp>
      <p:sp>
        <p:nvSpPr>
          <p:cNvPr id="4" name="Shape 2"/>
          <p:cNvSpPr/>
          <p:nvPr/>
        </p:nvSpPr>
        <p:spPr>
          <a:xfrm>
            <a:off x="365760" y="1371600"/>
            <a:ext cx="4023360" cy="2606040"/>
          </a:xfrm>
          <a:prstGeom prst="rect">
            <a:avLst/>
          </a:prstGeom>
          <a:solidFill>
            <a:srgbClr val="1E3A5F"/>
          </a:solidFill>
          <a:ln/>
          <a:effectLst>
            <a:outerShdw sx="100000" sy="100000" kx="0" ky="0" algn="bl" rotWithShape="0" blurRad="101600" dist="25400" dir="8100000">
              <a:srgbClr val="000000">
                <a:alpha val="12000"/>
              </a:srgbClr>
            </a:outerShdw>
          </a:effectLst>
        </p:spPr>
      </p:sp>
      <p:sp>
        <p:nvSpPr>
          <p:cNvPr id="5" name="Shape 3"/>
          <p:cNvSpPr/>
          <p:nvPr/>
        </p:nvSpPr>
        <p:spPr>
          <a:xfrm>
            <a:off x="365760" y="1371600"/>
            <a:ext cx="64008" cy="2606040"/>
          </a:xfrm>
          <a:prstGeom prst="rect">
            <a:avLst/>
          </a:prstGeom>
          <a:solidFill>
            <a:srgbClr val="3B7FD4"/>
          </a:solidFill>
          <a:ln/>
        </p:spPr>
      </p:sp>
      <p:sp>
        <p:nvSpPr>
          <p:cNvPr id="6" name="Text 4"/>
          <p:cNvSpPr/>
          <p:nvPr/>
        </p:nvSpPr>
        <p:spPr>
          <a:xfrm>
            <a:off x="594360" y="1508760"/>
            <a:ext cx="3566160" cy="256032"/>
          </a:xfrm>
          <a:prstGeom prst="rect">
            <a:avLst/>
          </a:prstGeom>
          <a:noFill/>
          <a:ln/>
        </p:spPr>
        <p:txBody>
          <a:bodyPr wrap="square" rtlCol="0" anchor="ctr"/>
          <a:lstStyle/>
          <a:p>
            <a:pPr indent="0" marL="0">
              <a:buNone/>
            </a:pPr>
            <a:r>
              <a:rPr lang="en-US" sz="1000" b="1" spc="300" kern="0" dirty="0">
                <a:solidFill>
                  <a:srgbClr val="63A0E0"/>
                </a:solidFill>
                <a:latin typeface="Calibri" pitchFamily="34" charset="0"/>
                <a:ea typeface="Calibri" pitchFamily="34" charset="-122"/>
                <a:cs typeface="Calibri" pitchFamily="34" charset="-120"/>
              </a:rPr>
              <a:t>WORKDAY</a:t>
            </a:r>
            <a:endParaRPr lang="en-US" sz="1000" dirty="0"/>
          </a:p>
        </p:txBody>
      </p:sp>
      <p:sp>
        <p:nvSpPr>
          <p:cNvPr id="7" name="Text 5"/>
          <p:cNvSpPr/>
          <p:nvPr/>
        </p:nvSpPr>
        <p:spPr>
          <a:xfrm>
            <a:off x="594360" y="1764792"/>
            <a:ext cx="3566160" cy="822960"/>
          </a:xfrm>
          <a:prstGeom prst="rect">
            <a:avLst/>
          </a:prstGeom>
          <a:noFill/>
          <a:ln/>
        </p:spPr>
        <p:txBody>
          <a:bodyPr wrap="square" rtlCol="0" anchor="ctr"/>
          <a:lstStyle/>
          <a:p>
            <a:pPr indent="0" marL="0">
              <a:buNone/>
            </a:pPr>
            <a:r>
              <a:rPr lang="en-US" sz="5200" b="1" dirty="0">
                <a:solidFill>
                  <a:srgbClr val="3B7FD4"/>
                </a:solidFill>
                <a:latin typeface="Georgia" pitchFamily="34" charset="0"/>
                <a:ea typeface="Georgia" pitchFamily="34" charset="-122"/>
                <a:cs typeface="Georgia" pitchFamily="34" charset="-120"/>
              </a:rPr>
              <a:t>50%</a:t>
            </a:r>
            <a:endParaRPr lang="en-US" sz="5200" dirty="0"/>
          </a:p>
        </p:txBody>
      </p:sp>
      <p:sp>
        <p:nvSpPr>
          <p:cNvPr id="8" name="Text 6"/>
          <p:cNvSpPr/>
          <p:nvPr/>
        </p:nvSpPr>
        <p:spPr>
          <a:xfrm>
            <a:off x="594360" y="2587752"/>
            <a:ext cx="3566160" cy="3474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of incidents automated with internal AI</a:t>
            </a:r>
            <a:endParaRPr lang="en-US" sz="1300" dirty="0"/>
          </a:p>
        </p:txBody>
      </p:sp>
      <p:sp>
        <p:nvSpPr>
          <p:cNvPr id="9" name="Text 7"/>
          <p:cNvSpPr/>
          <p:nvPr/>
        </p:nvSpPr>
        <p:spPr>
          <a:xfrm>
            <a:off x="594360" y="2971800"/>
            <a:ext cx="3474720" cy="822960"/>
          </a:xfrm>
          <a:prstGeom prst="rect">
            <a:avLst/>
          </a:prstGeom>
          <a:noFill/>
          <a:ln/>
        </p:spPr>
        <p:txBody>
          <a:bodyPr wrap="square" rtlCol="0" anchor="ctr"/>
          <a:lstStyle/>
          <a:p>
            <a:pPr indent="0" marL="0">
              <a:buNone/>
            </a:pPr>
            <a:r>
              <a:rPr lang="en-US" sz="1100" dirty="0">
                <a:solidFill>
                  <a:srgbClr val="8899AA"/>
                </a:solidFill>
                <a:latin typeface="Calibri" pitchFamily="34" charset="0"/>
                <a:ea typeface="Calibri" pitchFamily="34" charset="-122"/>
                <a:cs typeface="Calibri" pitchFamily="34" charset="-120"/>
              </a:rPr>
              <a:t>Built on Gemini + Bedrock. In production. Now evaluating Resolve for the 50% their internal agents can't touch: cross-service reasoning, novel failures, proprietary architecture.</a:t>
            </a:r>
            <a:endParaRPr lang="en-US" sz="1100" dirty="0"/>
          </a:p>
        </p:txBody>
      </p:sp>
      <p:sp>
        <p:nvSpPr>
          <p:cNvPr id="10" name="Shape 8"/>
          <p:cNvSpPr/>
          <p:nvPr/>
        </p:nvSpPr>
        <p:spPr>
          <a:xfrm>
            <a:off x="4754880" y="1371600"/>
            <a:ext cx="4023360" cy="2606040"/>
          </a:xfrm>
          <a:prstGeom prst="rect">
            <a:avLst/>
          </a:prstGeom>
          <a:solidFill>
            <a:srgbClr val="1E3A5F"/>
          </a:solidFill>
          <a:ln/>
          <a:effectLst>
            <a:outerShdw sx="100000" sy="100000" kx="0" ky="0" algn="bl" rotWithShape="0" blurRad="101600" dist="25400" dir="8100000">
              <a:srgbClr val="000000">
                <a:alpha val="12000"/>
              </a:srgbClr>
            </a:outerShdw>
          </a:effectLst>
        </p:spPr>
      </p:sp>
      <p:sp>
        <p:nvSpPr>
          <p:cNvPr id="11" name="Shape 9"/>
          <p:cNvSpPr/>
          <p:nvPr/>
        </p:nvSpPr>
        <p:spPr>
          <a:xfrm>
            <a:off x="4754880" y="1371600"/>
            <a:ext cx="64008" cy="2606040"/>
          </a:xfrm>
          <a:prstGeom prst="rect">
            <a:avLst/>
          </a:prstGeom>
          <a:solidFill>
            <a:srgbClr val="3B7FD4"/>
          </a:solidFill>
          <a:ln/>
        </p:spPr>
      </p:sp>
      <p:sp>
        <p:nvSpPr>
          <p:cNvPr id="12" name="Text 10"/>
          <p:cNvSpPr/>
          <p:nvPr/>
        </p:nvSpPr>
        <p:spPr>
          <a:xfrm>
            <a:off x="4983480" y="1508760"/>
            <a:ext cx="3566160" cy="256032"/>
          </a:xfrm>
          <a:prstGeom prst="rect">
            <a:avLst/>
          </a:prstGeom>
          <a:noFill/>
          <a:ln/>
        </p:spPr>
        <p:txBody>
          <a:bodyPr wrap="square" rtlCol="0" anchor="ctr"/>
          <a:lstStyle/>
          <a:p>
            <a:pPr indent="0" marL="0">
              <a:buNone/>
            </a:pPr>
            <a:r>
              <a:rPr lang="en-US" sz="1000" b="1" spc="300" kern="0" dirty="0">
                <a:solidFill>
                  <a:srgbClr val="63A0E0"/>
                </a:solidFill>
                <a:latin typeface="Calibri" pitchFamily="34" charset="0"/>
                <a:ea typeface="Calibri" pitchFamily="34" charset="-122"/>
                <a:cs typeface="Calibri" pitchFamily="34" charset="-120"/>
              </a:rPr>
              <a:t>QUALCOMM</a:t>
            </a:r>
            <a:endParaRPr lang="en-US" sz="1000" dirty="0"/>
          </a:p>
        </p:txBody>
      </p:sp>
      <p:sp>
        <p:nvSpPr>
          <p:cNvPr id="13" name="Text 11"/>
          <p:cNvSpPr/>
          <p:nvPr/>
        </p:nvSpPr>
        <p:spPr>
          <a:xfrm>
            <a:off x="4983480" y="1764792"/>
            <a:ext cx="3566160" cy="457200"/>
          </a:xfrm>
          <a:prstGeom prst="rect">
            <a:avLst/>
          </a:prstGeom>
          <a:noFill/>
          <a:ln/>
        </p:spPr>
        <p:txBody>
          <a:bodyPr wrap="square" rtlCol="0" anchor="ctr"/>
          <a:lstStyle/>
          <a:p>
            <a:pPr indent="0" marL="0">
              <a:buNone/>
            </a:pPr>
            <a:r>
              <a:rPr lang="en-US" sz="2200" b="1" dirty="0">
                <a:solidFill>
                  <a:srgbClr val="3B7FD4"/>
                </a:solidFill>
                <a:latin typeface="Georgia" pitchFamily="34" charset="0"/>
                <a:ea typeface="Georgia" pitchFamily="34" charset="-122"/>
                <a:cs typeface="Georgia" pitchFamily="34" charset="-120"/>
              </a:rPr>
              <a:t>Built NOVA —</a:t>
            </a:r>
            <a:endParaRPr lang="en-US" sz="2200" dirty="0"/>
          </a:p>
        </p:txBody>
      </p:sp>
      <p:sp>
        <p:nvSpPr>
          <p:cNvPr id="14" name="Text 12"/>
          <p:cNvSpPr/>
          <p:nvPr/>
        </p:nvSpPr>
        <p:spPr>
          <a:xfrm>
            <a:off x="4983480" y="2221992"/>
            <a:ext cx="3566160" cy="3474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their own incident AI</a:t>
            </a:r>
            <a:endParaRPr lang="en-US" sz="1300" dirty="0"/>
          </a:p>
        </p:txBody>
      </p:sp>
      <p:sp>
        <p:nvSpPr>
          <p:cNvPr id="15" name="Text 13"/>
          <p:cNvSpPr/>
          <p:nvPr/>
        </p:nvSpPr>
        <p:spPr>
          <a:xfrm>
            <a:off x="4983480" y="2587752"/>
            <a:ext cx="3474720" cy="365760"/>
          </a:xfrm>
          <a:prstGeom prst="rect">
            <a:avLst/>
          </a:prstGeom>
          <a:noFill/>
          <a:ln/>
        </p:spPr>
        <p:txBody>
          <a:bodyPr wrap="square" rtlCol="0" anchor="ctr"/>
          <a:lstStyle/>
          <a:p>
            <a:pPr indent="0" marL="0">
              <a:buNone/>
            </a:pPr>
            <a:r>
              <a:rPr lang="en-US" sz="1200" dirty="0">
                <a:solidFill>
                  <a:srgbClr val="8899AA"/>
                </a:solidFill>
                <a:latin typeface="Calibri" pitchFamily="34" charset="0"/>
                <a:ea typeface="Calibri" pitchFamily="34" charset="-122"/>
                <a:cs typeface="Calibri" pitchFamily="34" charset="-120"/>
              </a:rPr>
              <a:t>→ evaluated Resolve when NOVA hit its ceiling</a:t>
            </a:r>
            <a:endParaRPr lang="en-US" sz="1200" dirty="0"/>
          </a:p>
        </p:txBody>
      </p:sp>
      <p:sp>
        <p:nvSpPr>
          <p:cNvPr id="16" name="Text 14"/>
          <p:cNvSpPr/>
          <p:nvPr/>
        </p:nvSpPr>
        <p:spPr>
          <a:xfrm>
            <a:off x="4983480" y="2999232"/>
            <a:ext cx="3474720" cy="777240"/>
          </a:xfrm>
          <a:prstGeom prst="rect">
            <a:avLst/>
          </a:prstGeom>
          <a:noFill/>
          <a:ln/>
        </p:spPr>
        <p:txBody>
          <a:bodyPr wrap="square" rtlCol="0" anchor="ctr"/>
          <a:lstStyle/>
          <a:p>
            <a:pPr indent="0" marL="0">
              <a:buNone/>
            </a:pPr>
            <a:r>
              <a:rPr lang="en-US" sz="1100" dirty="0">
                <a:solidFill>
                  <a:srgbClr val="8899AA"/>
                </a:solidFill>
                <a:latin typeface="Calibri" pitchFamily="34" charset="0"/>
                <a:ea typeface="Calibri" pitchFamily="34" charset="-122"/>
                <a:cs typeface="Calibri" pitchFamily="34" charset="-120"/>
              </a:rPr>
              <a:t>500,000 alerts/month. Also evaluated Datadog Bits AI — found it "disappointing." NOVA + Datadog were not enough.</a:t>
            </a:r>
            <a:endParaRPr lang="en-US" sz="1100" dirty="0"/>
          </a:p>
        </p:txBody>
      </p:sp>
      <p:sp>
        <p:nvSpPr>
          <p:cNvPr id="17" name="Shape 15"/>
          <p:cNvSpPr/>
          <p:nvPr/>
        </p:nvSpPr>
        <p:spPr>
          <a:xfrm>
            <a:off x="0" y="4480560"/>
            <a:ext cx="9144000" cy="388620"/>
          </a:xfrm>
          <a:prstGeom prst="rect">
            <a:avLst/>
          </a:prstGeom>
          <a:solidFill>
            <a:srgbClr val="3B7FD4"/>
          </a:solidFill>
          <a:ln/>
        </p:spPr>
      </p:sp>
      <p:sp>
        <p:nvSpPr>
          <p:cNvPr id="18" name="Text 16"/>
          <p:cNvSpPr/>
          <p:nvPr/>
        </p:nvSpPr>
        <p:spPr>
          <a:xfrm>
            <a:off x="457200" y="4562856"/>
            <a:ext cx="8229600" cy="25603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This isn't a category we're creating. The market independently validated it.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56032"/>
            <a:ext cx="4572000" cy="256032"/>
          </a:xfrm>
          <a:prstGeom prst="rect">
            <a:avLst/>
          </a:prstGeom>
          <a:noFill/>
          <a:ln/>
        </p:spPr>
        <p:txBody>
          <a:bodyPr wrap="square" rtlCol="0" anchor="ctr"/>
          <a:lstStyle/>
          <a:p>
            <a:pPr indent="0" marL="0">
              <a:buNone/>
            </a:pPr>
            <a:r>
              <a:rPr lang="en-US" sz="1100" b="1" spc="300" kern="0" dirty="0">
                <a:solidFill>
                  <a:srgbClr val="63A0E0"/>
                </a:solidFill>
                <a:latin typeface="Calibri" pitchFamily="34" charset="0"/>
                <a:ea typeface="Calibri" pitchFamily="34" charset="-122"/>
                <a:cs typeface="Calibri" pitchFamily="34" charset="-120"/>
              </a:rPr>
              <a:t>THE CATEGORY</a:t>
            </a:r>
            <a:endParaRPr lang="en-US" sz="1100" dirty="0"/>
          </a:p>
        </p:txBody>
      </p:sp>
      <p:sp>
        <p:nvSpPr>
          <p:cNvPr id="3" name="Text 1"/>
          <p:cNvSpPr/>
          <p:nvPr/>
        </p:nvSpPr>
        <p:spPr>
          <a:xfrm>
            <a:off x="457200" y="566928"/>
            <a:ext cx="8229600" cy="5943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The missing layer.</a:t>
            </a:r>
            <a:endParaRPr lang="en-US" sz="3400" dirty="0"/>
          </a:p>
        </p:txBody>
      </p:sp>
      <p:sp>
        <p:nvSpPr>
          <p:cNvPr id="4" name="Shape 2"/>
          <p:cNvSpPr/>
          <p:nvPr/>
        </p:nvSpPr>
        <p:spPr>
          <a:xfrm>
            <a:off x="914400" y="1417320"/>
            <a:ext cx="7315200" cy="822960"/>
          </a:xfrm>
          <a:prstGeom prst="rect">
            <a:avLst/>
          </a:prstGeom>
          <a:solidFill>
            <a:srgbClr val="1E3A5F"/>
          </a:solidFill>
          <a:ln/>
        </p:spPr>
      </p:sp>
      <p:sp>
        <p:nvSpPr>
          <p:cNvPr id="5" name="Text 3"/>
          <p:cNvSpPr/>
          <p:nvPr/>
        </p:nvSpPr>
        <p:spPr>
          <a:xfrm>
            <a:off x="1097280" y="1508760"/>
            <a:ext cx="3657600" cy="256032"/>
          </a:xfrm>
          <a:prstGeom prst="rect">
            <a:avLst/>
          </a:prstGeom>
          <a:noFill/>
          <a:ln/>
        </p:spPr>
        <p:txBody>
          <a:bodyPr wrap="square" rtlCol="0" anchor="ctr"/>
          <a:lstStyle/>
          <a:p>
            <a:pPr indent="0" marL="0">
              <a:buNone/>
            </a:pPr>
            <a:r>
              <a:rPr lang="en-US" sz="1000" b="1" spc="200" kern="0" dirty="0">
                <a:solidFill>
                  <a:srgbClr val="8899AA"/>
                </a:solidFill>
                <a:latin typeface="Calibri" pitchFamily="34" charset="0"/>
                <a:ea typeface="Calibri" pitchFamily="34" charset="-122"/>
                <a:cs typeface="Calibri" pitchFamily="34" charset="-120"/>
              </a:rPr>
              <a:t>YOUR OBSERVABILITY STACK</a:t>
            </a:r>
            <a:endParaRPr lang="en-US" sz="1000" dirty="0"/>
          </a:p>
        </p:txBody>
      </p:sp>
      <p:sp>
        <p:nvSpPr>
          <p:cNvPr id="6" name="Text 4"/>
          <p:cNvSpPr/>
          <p:nvPr/>
        </p:nvSpPr>
        <p:spPr>
          <a:xfrm>
            <a:off x="1097280" y="1764792"/>
            <a:ext cx="6858000" cy="274320"/>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Datadog  ·  Splunk  ·  Elastic  ·  Dynatrace  ·  Grafana  ·  Prometheus</a:t>
            </a:r>
            <a:endParaRPr lang="en-US" sz="1100" dirty="0"/>
          </a:p>
        </p:txBody>
      </p:sp>
      <p:sp>
        <p:nvSpPr>
          <p:cNvPr id="7" name="Shape 5"/>
          <p:cNvSpPr/>
          <p:nvPr/>
        </p:nvSpPr>
        <p:spPr>
          <a:xfrm>
            <a:off x="914400" y="2331720"/>
            <a:ext cx="7315200" cy="365760"/>
          </a:xfrm>
          <a:prstGeom prst="rect">
            <a:avLst/>
          </a:prstGeom>
          <a:solidFill>
            <a:srgbClr val="0D1B2E"/>
          </a:solidFill>
          <a:ln/>
        </p:spPr>
      </p:sp>
      <p:sp>
        <p:nvSpPr>
          <p:cNvPr id="8" name="Text 6"/>
          <p:cNvSpPr/>
          <p:nvPr/>
        </p:nvSpPr>
        <p:spPr>
          <a:xfrm>
            <a:off x="914400" y="2377440"/>
            <a:ext cx="7315200" cy="256032"/>
          </a:xfrm>
          <a:prstGeom prst="rect">
            <a:avLst/>
          </a:prstGeom>
          <a:noFill/>
          <a:ln/>
        </p:spPr>
        <p:txBody>
          <a:bodyPr wrap="square" rtlCol="0" anchor="ctr"/>
          <a:lstStyle/>
          <a:p>
            <a:pPr algn="ctr" indent="0" marL="0">
              <a:buNone/>
            </a:pPr>
            <a:r>
              <a:rPr lang="en-US" sz="1000" i="1" dirty="0">
                <a:solidFill>
                  <a:srgbClr val="2D5A8E"/>
                </a:solidFill>
                <a:latin typeface="Calibri" pitchFamily="34" charset="0"/>
                <a:ea typeface="Calibri" pitchFamily="34" charset="-122"/>
                <a:cs typeface="Calibri" pitchFamily="34" charset="-120"/>
              </a:rPr>
              <a:t>— the interpretation gap —</a:t>
            </a:r>
            <a:endParaRPr lang="en-US" sz="1000" dirty="0"/>
          </a:p>
        </p:txBody>
      </p:sp>
      <p:sp>
        <p:nvSpPr>
          <p:cNvPr id="9" name="Shape 7"/>
          <p:cNvSpPr/>
          <p:nvPr/>
        </p:nvSpPr>
        <p:spPr>
          <a:xfrm>
            <a:off x="914400" y="2788920"/>
            <a:ext cx="7315200" cy="1005840"/>
          </a:xfrm>
          <a:prstGeom prst="rect">
            <a:avLst/>
          </a:prstGeom>
          <a:solidFill>
            <a:srgbClr val="3B7FD4"/>
          </a:solidFill>
          <a:ln/>
        </p:spPr>
      </p:sp>
      <p:sp>
        <p:nvSpPr>
          <p:cNvPr id="10" name="Text 8"/>
          <p:cNvSpPr/>
          <p:nvPr/>
        </p:nvSpPr>
        <p:spPr>
          <a:xfrm>
            <a:off x="1097280" y="2871216"/>
            <a:ext cx="6858000" cy="274320"/>
          </a:xfrm>
          <a:prstGeom prst="rect">
            <a:avLst/>
          </a:prstGeom>
          <a:noFill/>
          <a:ln/>
        </p:spPr>
        <p:txBody>
          <a:bodyPr wrap="square"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AI REASONING LAYER — RESOLVE</a:t>
            </a:r>
            <a:endParaRPr lang="en-US" sz="1100" dirty="0"/>
          </a:p>
        </p:txBody>
      </p:sp>
      <p:sp>
        <p:nvSpPr>
          <p:cNvPr id="11" name="Text 9"/>
          <p:cNvSpPr/>
          <p:nvPr/>
        </p:nvSpPr>
        <p:spPr>
          <a:xfrm>
            <a:off x="1097280" y="3172968"/>
            <a:ext cx="6858000" cy="47548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Connects across your stack  ·  Forms causal hypotheses  ·  Surfaces cited root cause</a:t>
            </a:r>
            <a:endParaRPr lang="en-US" sz="1300" dirty="0"/>
          </a:p>
        </p:txBody>
      </p:sp>
      <p:sp>
        <p:nvSpPr>
          <p:cNvPr id="12" name="Text 10"/>
          <p:cNvSpPr/>
          <p:nvPr/>
        </p:nvSpPr>
        <p:spPr>
          <a:xfrm>
            <a:off x="914400" y="3913632"/>
            <a:ext cx="7315200" cy="347472"/>
          </a:xfrm>
          <a:prstGeom prst="rect">
            <a:avLst/>
          </a:prstGeom>
          <a:noFill/>
          <a:ln/>
        </p:spPr>
        <p:txBody>
          <a:bodyPr wrap="square" rtlCol="0" anchor="ctr"/>
          <a:lstStyle/>
          <a:p>
            <a:pPr algn="ctr" indent="0" marL="0">
              <a:buNone/>
            </a:pPr>
            <a:r>
              <a:rPr lang="en-US" sz="1200" i="1" dirty="0">
                <a:solidFill>
                  <a:srgbClr val="8899AA"/>
                </a:solidFill>
                <a:latin typeface="Calibri" pitchFamily="34" charset="0"/>
                <a:ea typeface="Calibri" pitchFamily="34" charset="-122"/>
                <a:cs typeface="Calibri" pitchFamily="34" charset="-120"/>
              </a:rPr>
              <a:t>Not a replacement for your observability stack. An interpretation layer that sits above it.</a:t>
            </a:r>
            <a:endParaRPr lang="en-US" sz="1200" dirty="0"/>
          </a:p>
        </p:txBody>
      </p:sp>
      <p:sp>
        <p:nvSpPr>
          <p:cNvPr id="13" name="Text 11"/>
          <p:cNvSpPr/>
          <p:nvPr/>
        </p:nvSpPr>
        <p:spPr>
          <a:xfrm>
            <a:off x="914400" y="4361688"/>
            <a:ext cx="7315200" cy="347472"/>
          </a:xfrm>
          <a:prstGeom prst="rect">
            <a:avLst/>
          </a:prstGeom>
          <a:noFill/>
          <a:ln/>
        </p:spPr>
        <p:txBody>
          <a:bodyPr wrap="square" rtlCol="0" anchor="ctr"/>
          <a:lstStyle/>
          <a:p>
            <a:pPr algn="ctr" indent="0" marL="0">
              <a:buNone/>
            </a:pPr>
            <a:r>
              <a:rPr lang="en-US" sz="1400" b="1" dirty="0">
                <a:solidFill>
                  <a:srgbClr val="63A0E0"/>
                </a:solidFill>
                <a:latin typeface="Calibri" pitchFamily="34" charset="0"/>
                <a:ea typeface="Calibri" pitchFamily="34" charset="-122"/>
                <a:cs typeface="Calibri" pitchFamily="34" charset="-120"/>
              </a:rPr>
              <a:t>Every engineer, every incident — with the context of your best SRE.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4572000" cy="256032"/>
          </a:xfrm>
          <a:prstGeom prst="rect">
            <a:avLst/>
          </a:prstGeom>
          <a:noFill/>
          <a:ln/>
        </p:spPr>
        <p:txBody>
          <a:bodyPr wrap="square" rtlCol="0" anchor="ctr"/>
          <a:lstStyle/>
          <a:p>
            <a:pPr indent="0" marL="0">
              <a:buNone/>
            </a:pPr>
            <a:r>
              <a:rPr lang="en-US" sz="1100" b="1" spc="300" kern="0" dirty="0">
                <a:solidFill>
                  <a:srgbClr val="3B7FD4"/>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457200" y="548640"/>
            <a:ext cx="8229600" cy="502920"/>
          </a:xfrm>
          <a:prstGeom prst="rect">
            <a:avLst/>
          </a:prstGeom>
          <a:noFill/>
          <a:ln/>
        </p:spPr>
        <p:txBody>
          <a:bodyPr wrap="square" rtlCol="0" anchor="ctr"/>
          <a:lstStyle/>
          <a:p>
            <a:pPr indent="0" marL="0">
              <a:buNone/>
            </a:pPr>
            <a:r>
              <a:rPr lang="en-US" sz="2600" b="1" dirty="0">
                <a:solidFill>
                  <a:srgbClr val="1C2B4A"/>
                </a:solidFill>
                <a:latin typeface="Georgia" pitchFamily="34" charset="0"/>
                <a:ea typeface="Georgia" pitchFamily="34" charset="-122"/>
                <a:cs typeface="Georgia" pitchFamily="34" charset="-120"/>
              </a:rPr>
              <a:t>What this looks like in production.</a:t>
            </a:r>
            <a:endParaRPr lang="en-US" sz="2600" dirty="0"/>
          </a:p>
        </p:txBody>
      </p:sp>
      <p:sp>
        <p:nvSpPr>
          <p:cNvPr id="4" name="Shape 2"/>
          <p:cNvSpPr/>
          <p:nvPr/>
        </p:nvSpPr>
        <p:spPr>
          <a:xfrm>
            <a:off x="365760" y="1188720"/>
            <a:ext cx="4023360" cy="1691640"/>
          </a:xfrm>
          <a:prstGeom prst="rect">
            <a:avLst/>
          </a:prstGeom>
          <a:solidFill>
            <a:srgbClr val="EBF2FF"/>
          </a:solidFill>
          <a:ln/>
          <a:effectLst>
            <a:outerShdw sx="100000" sy="100000" kx="0" ky="0" algn="bl" rotWithShape="0" blurRad="101600" dist="25400" dir="8100000">
              <a:srgbClr val="000000">
                <a:alpha val="12000"/>
              </a:srgbClr>
            </a:outerShdw>
          </a:effectLst>
        </p:spPr>
      </p:sp>
      <p:sp>
        <p:nvSpPr>
          <p:cNvPr id="5" name="Shape 3"/>
          <p:cNvSpPr/>
          <p:nvPr/>
        </p:nvSpPr>
        <p:spPr>
          <a:xfrm>
            <a:off x="365760" y="1188720"/>
            <a:ext cx="64008" cy="1691640"/>
          </a:xfrm>
          <a:prstGeom prst="rect">
            <a:avLst/>
          </a:prstGeom>
          <a:solidFill>
            <a:srgbClr val="3B7FD4"/>
          </a:solidFill>
          <a:ln/>
        </p:spPr>
      </p:sp>
      <p:sp>
        <p:nvSpPr>
          <p:cNvPr id="6" name="Text 4"/>
          <p:cNvSpPr/>
          <p:nvPr/>
        </p:nvSpPr>
        <p:spPr>
          <a:xfrm>
            <a:off x="594360" y="1298448"/>
            <a:ext cx="3566160" cy="256032"/>
          </a:xfrm>
          <a:prstGeom prst="rect">
            <a:avLst/>
          </a:prstGeom>
          <a:noFill/>
          <a:ln/>
        </p:spPr>
        <p:txBody>
          <a:bodyPr wrap="square" rtlCol="0" anchor="ctr"/>
          <a:lstStyle/>
          <a:p>
            <a:pPr indent="0" marL="0">
              <a:buNone/>
            </a:pPr>
            <a:r>
              <a:rPr lang="en-US" sz="900" b="1" spc="200" kern="0" dirty="0">
                <a:solidFill>
                  <a:srgbClr val="3B7FD4"/>
                </a:solidFill>
                <a:latin typeface="Calibri" pitchFamily="34" charset="0"/>
                <a:ea typeface="Calibri" pitchFamily="34" charset="-122"/>
                <a:cs typeface="Calibri" pitchFamily="34" charset="-120"/>
              </a:rPr>
              <a:t>COINBASE</a:t>
            </a:r>
            <a:endParaRPr lang="en-US" sz="900" dirty="0"/>
          </a:p>
        </p:txBody>
      </p:sp>
      <p:sp>
        <p:nvSpPr>
          <p:cNvPr id="7" name="Text 5"/>
          <p:cNvSpPr/>
          <p:nvPr/>
        </p:nvSpPr>
        <p:spPr>
          <a:xfrm>
            <a:off x="594360" y="1554480"/>
            <a:ext cx="3566160" cy="594360"/>
          </a:xfrm>
          <a:prstGeom prst="rect">
            <a:avLst/>
          </a:prstGeom>
          <a:noFill/>
          <a:ln/>
        </p:spPr>
        <p:txBody>
          <a:bodyPr wrap="square" rtlCol="0" anchor="ctr"/>
          <a:lstStyle/>
          <a:p>
            <a:pPr indent="0" marL="0">
              <a:buNone/>
            </a:pPr>
            <a:r>
              <a:rPr lang="en-US" sz="3400" b="1" dirty="0">
                <a:solidFill>
                  <a:srgbClr val="1C2B4A"/>
                </a:solidFill>
                <a:latin typeface="Georgia" pitchFamily="34" charset="0"/>
                <a:ea typeface="Georgia" pitchFamily="34" charset="-122"/>
                <a:cs typeface="Georgia" pitchFamily="34" charset="-120"/>
              </a:rPr>
              <a:t>15 min</a:t>
            </a:r>
            <a:endParaRPr lang="en-US" sz="3400" dirty="0"/>
          </a:p>
        </p:txBody>
      </p:sp>
      <p:sp>
        <p:nvSpPr>
          <p:cNvPr id="8" name="Text 6"/>
          <p:cNvSpPr/>
          <p:nvPr/>
        </p:nvSpPr>
        <p:spPr>
          <a:xfrm>
            <a:off x="594360" y="2148840"/>
            <a:ext cx="3566160" cy="320040"/>
          </a:xfrm>
          <a:prstGeom prst="rect">
            <a:avLst/>
          </a:prstGeom>
          <a:noFill/>
          <a:ln/>
        </p:spPr>
        <p:txBody>
          <a:bodyPr wrap="square"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vs. 35 min manually  (~60% faster RCA)</a:t>
            </a:r>
            <a:endParaRPr lang="en-US" sz="1100" dirty="0"/>
          </a:p>
        </p:txBody>
      </p:sp>
      <p:sp>
        <p:nvSpPr>
          <p:cNvPr id="9" name="Text 7"/>
          <p:cNvSpPr/>
          <p:nvPr/>
        </p:nvSpPr>
        <p:spPr>
          <a:xfrm>
            <a:off x="594360" y="2487168"/>
            <a:ext cx="3566160" cy="32004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83 weekly active engineers  ·  production deployment</a:t>
            </a:r>
            <a:endParaRPr lang="en-US" sz="1000" dirty="0"/>
          </a:p>
        </p:txBody>
      </p:sp>
      <p:sp>
        <p:nvSpPr>
          <p:cNvPr id="10" name="Shape 8"/>
          <p:cNvSpPr/>
          <p:nvPr/>
        </p:nvSpPr>
        <p:spPr>
          <a:xfrm>
            <a:off x="4754880" y="1188720"/>
            <a:ext cx="4023360" cy="1691640"/>
          </a:xfrm>
          <a:prstGeom prst="rect">
            <a:avLst/>
          </a:prstGeom>
          <a:solidFill>
            <a:srgbClr val="EBF2FF"/>
          </a:solidFill>
          <a:ln/>
          <a:effectLst>
            <a:outerShdw sx="100000" sy="100000" kx="0" ky="0" algn="bl" rotWithShape="0" blurRad="101600" dist="25400" dir="8100000">
              <a:srgbClr val="000000">
                <a:alpha val="12000"/>
              </a:srgbClr>
            </a:outerShdw>
          </a:effectLst>
        </p:spPr>
      </p:sp>
      <p:sp>
        <p:nvSpPr>
          <p:cNvPr id="11" name="Shape 9"/>
          <p:cNvSpPr/>
          <p:nvPr/>
        </p:nvSpPr>
        <p:spPr>
          <a:xfrm>
            <a:off x="4754880" y="1188720"/>
            <a:ext cx="64008" cy="1691640"/>
          </a:xfrm>
          <a:prstGeom prst="rect">
            <a:avLst/>
          </a:prstGeom>
          <a:solidFill>
            <a:srgbClr val="3B7FD4"/>
          </a:solidFill>
          <a:ln/>
        </p:spPr>
      </p:sp>
      <p:sp>
        <p:nvSpPr>
          <p:cNvPr id="12" name="Text 10"/>
          <p:cNvSpPr/>
          <p:nvPr/>
        </p:nvSpPr>
        <p:spPr>
          <a:xfrm>
            <a:off x="4983480" y="1298448"/>
            <a:ext cx="3566160" cy="256032"/>
          </a:xfrm>
          <a:prstGeom prst="rect">
            <a:avLst/>
          </a:prstGeom>
          <a:noFill/>
          <a:ln/>
        </p:spPr>
        <p:txBody>
          <a:bodyPr wrap="square" rtlCol="0" anchor="ctr"/>
          <a:lstStyle/>
          <a:p>
            <a:pPr indent="0" marL="0">
              <a:buNone/>
            </a:pPr>
            <a:r>
              <a:rPr lang="en-US" sz="900" b="1" spc="200" kern="0" dirty="0">
                <a:solidFill>
                  <a:srgbClr val="3B7FD4"/>
                </a:solidFill>
                <a:latin typeface="Calibri" pitchFamily="34" charset="0"/>
                <a:ea typeface="Calibri" pitchFamily="34" charset="-122"/>
                <a:cs typeface="Calibri" pitchFamily="34" charset="-120"/>
              </a:rPr>
              <a:t>MILLENNIUM PARTNERS LP</a:t>
            </a:r>
            <a:endParaRPr lang="en-US" sz="900" dirty="0"/>
          </a:p>
        </p:txBody>
      </p:sp>
      <p:sp>
        <p:nvSpPr>
          <p:cNvPr id="13" name="Text 11"/>
          <p:cNvSpPr/>
          <p:nvPr/>
        </p:nvSpPr>
        <p:spPr>
          <a:xfrm>
            <a:off x="4983480" y="1554480"/>
            <a:ext cx="3566160" cy="594360"/>
          </a:xfrm>
          <a:prstGeom prst="rect">
            <a:avLst/>
          </a:prstGeom>
          <a:noFill/>
          <a:ln/>
        </p:spPr>
        <p:txBody>
          <a:bodyPr wrap="square" rtlCol="0" anchor="ctr"/>
          <a:lstStyle/>
          <a:p>
            <a:pPr indent="0" marL="0">
              <a:buNone/>
            </a:pPr>
            <a:r>
              <a:rPr lang="en-US" sz="3400" b="1" dirty="0">
                <a:solidFill>
                  <a:srgbClr val="1C2B4A"/>
                </a:solidFill>
                <a:latin typeface="Georgia" pitchFamily="34" charset="0"/>
                <a:ea typeface="Georgia" pitchFamily="34" charset="-122"/>
                <a:cs typeface="Georgia" pitchFamily="34" charset="-120"/>
              </a:rPr>
              <a:t>50%</a:t>
            </a:r>
            <a:endParaRPr lang="en-US" sz="3400" dirty="0"/>
          </a:p>
        </p:txBody>
      </p:sp>
      <p:sp>
        <p:nvSpPr>
          <p:cNvPr id="14" name="Text 12"/>
          <p:cNvSpPr/>
          <p:nvPr/>
        </p:nvSpPr>
        <p:spPr>
          <a:xfrm>
            <a:off x="4983480" y="2148840"/>
            <a:ext cx="3566160" cy="320040"/>
          </a:xfrm>
          <a:prstGeom prst="rect">
            <a:avLst/>
          </a:prstGeom>
          <a:noFill/>
          <a:ln/>
        </p:spPr>
        <p:txBody>
          <a:bodyPr wrap="square"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reduction in ECC outage minutes</a:t>
            </a:r>
            <a:endParaRPr lang="en-US" sz="1100" dirty="0"/>
          </a:p>
        </p:txBody>
      </p:sp>
      <p:sp>
        <p:nvSpPr>
          <p:cNvPr id="15" name="Text 13"/>
          <p:cNvSpPr/>
          <p:nvPr/>
        </p:nvSpPr>
        <p:spPr>
          <a:xfrm>
            <a:off x="4983480" y="2487168"/>
            <a:ext cx="3566160" cy="32004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POC result  ·  700 cases  ·  Closed customer</a:t>
            </a:r>
            <a:endParaRPr lang="en-US" sz="1000" dirty="0"/>
          </a:p>
        </p:txBody>
      </p:sp>
      <p:sp>
        <p:nvSpPr>
          <p:cNvPr id="16" name="Shape 14"/>
          <p:cNvSpPr/>
          <p:nvPr/>
        </p:nvSpPr>
        <p:spPr>
          <a:xfrm>
            <a:off x="365760" y="3017520"/>
            <a:ext cx="4023360" cy="1691640"/>
          </a:xfrm>
          <a:prstGeom prst="rect">
            <a:avLst/>
          </a:prstGeom>
          <a:solidFill>
            <a:srgbClr val="EBF2FF"/>
          </a:solidFill>
          <a:ln/>
          <a:effectLst>
            <a:outerShdw sx="100000" sy="100000" kx="0" ky="0" algn="bl" rotWithShape="0" blurRad="101600" dist="25400" dir="8100000">
              <a:srgbClr val="000000">
                <a:alpha val="12000"/>
              </a:srgbClr>
            </a:outerShdw>
          </a:effectLst>
        </p:spPr>
      </p:sp>
      <p:sp>
        <p:nvSpPr>
          <p:cNvPr id="17" name="Shape 15"/>
          <p:cNvSpPr/>
          <p:nvPr/>
        </p:nvSpPr>
        <p:spPr>
          <a:xfrm>
            <a:off x="365760" y="3017520"/>
            <a:ext cx="64008" cy="1691640"/>
          </a:xfrm>
          <a:prstGeom prst="rect">
            <a:avLst/>
          </a:prstGeom>
          <a:solidFill>
            <a:srgbClr val="3B7FD4"/>
          </a:solidFill>
          <a:ln/>
        </p:spPr>
      </p:sp>
      <p:sp>
        <p:nvSpPr>
          <p:cNvPr id="18" name="Text 16"/>
          <p:cNvSpPr/>
          <p:nvPr/>
        </p:nvSpPr>
        <p:spPr>
          <a:xfrm>
            <a:off x="594360" y="3127248"/>
            <a:ext cx="3566160" cy="256032"/>
          </a:xfrm>
          <a:prstGeom prst="rect">
            <a:avLst/>
          </a:prstGeom>
          <a:noFill/>
          <a:ln/>
        </p:spPr>
        <p:txBody>
          <a:bodyPr wrap="square" rtlCol="0" anchor="ctr"/>
          <a:lstStyle/>
          <a:p>
            <a:pPr indent="0" marL="0">
              <a:buNone/>
            </a:pPr>
            <a:r>
              <a:rPr lang="en-US" sz="900" b="1" spc="200" kern="0" dirty="0">
                <a:solidFill>
                  <a:srgbClr val="3B7FD4"/>
                </a:solidFill>
                <a:latin typeface="Calibri" pitchFamily="34" charset="0"/>
                <a:ea typeface="Calibri" pitchFamily="34" charset="-122"/>
                <a:cs typeface="Calibri" pitchFamily="34" charset="-120"/>
              </a:rPr>
              <a:t>DOORDASH</a:t>
            </a:r>
            <a:endParaRPr lang="en-US" sz="900" dirty="0"/>
          </a:p>
        </p:txBody>
      </p:sp>
      <p:sp>
        <p:nvSpPr>
          <p:cNvPr id="19" name="Text 17"/>
          <p:cNvSpPr/>
          <p:nvPr/>
        </p:nvSpPr>
        <p:spPr>
          <a:xfrm>
            <a:off x="594360" y="3383280"/>
            <a:ext cx="3566160" cy="594360"/>
          </a:xfrm>
          <a:prstGeom prst="rect">
            <a:avLst/>
          </a:prstGeom>
          <a:noFill/>
          <a:ln/>
        </p:spPr>
        <p:txBody>
          <a:bodyPr wrap="square" rtlCol="0" anchor="ctr"/>
          <a:lstStyle/>
          <a:p>
            <a:pPr indent="0" marL="0">
              <a:buNone/>
            </a:pPr>
            <a:r>
              <a:rPr lang="en-US" sz="3400" b="1" dirty="0">
                <a:solidFill>
                  <a:srgbClr val="1C2B4A"/>
                </a:solidFill>
                <a:latin typeface="Georgia" pitchFamily="34" charset="0"/>
                <a:ea typeface="Georgia" pitchFamily="34" charset="-122"/>
                <a:cs typeface="Georgia" pitchFamily="34" charset="-120"/>
              </a:rPr>
              <a:t>87%</a:t>
            </a:r>
            <a:endParaRPr lang="en-US" sz="3400" dirty="0"/>
          </a:p>
        </p:txBody>
      </p:sp>
      <p:sp>
        <p:nvSpPr>
          <p:cNvPr id="20" name="Text 18"/>
          <p:cNvSpPr/>
          <p:nvPr/>
        </p:nvSpPr>
        <p:spPr>
          <a:xfrm>
            <a:off x="594360" y="3977640"/>
            <a:ext cx="3566160" cy="320040"/>
          </a:xfrm>
          <a:prstGeom prst="rect">
            <a:avLst/>
          </a:prstGeom>
          <a:noFill/>
          <a:ln/>
        </p:spPr>
        <p:txBody>
          <a:bodyPr wrap="square"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faster investigations</a:t>
            </a:r>
            <a:endParaRPr lang="en-US" sz="1100" dirty="0"/>
          </a:p>
        </p:txBody>
      </p:sp>
      <p:sp>
        <p:nvSpPr>
          <p:cNvPr id="21" name="Text 19"/>
          <p:cNvSpPr/>
          <p:nvPr/>
        </p:nvSpPr>
        <p:spPr>
          <a:xfrm>
            <a:off x="594360" y="4315968"/>
            <a:ext cx="3566160" cy="32004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Active production deployment</a:t>
            </a:r>
            <a:endParaRPr lang="en-US" sz="1000" dirty="0"/>
          </a:p>
        </p:txBody>
      </p:sp>
      <p:sp>
        <p:nvSpPr>
          <p:cNvPr id="22" name="Shape 20"/>
          <p:cNvSpPr/>
          <p:nvPr/>
        </p:nvSpPr>
        <p:spPr>
          <a:xfrm>
            <a:off x="4754880" y="3017520"/>
            <a:ext cx="4023360" cy="1691640"/>
          </a:xfrm>
          <a:prstGeom prst="rect">
            <a:avLst/>
          </a:prstGeom>
          <a:solidFill>
            <a:srgbClr val="EBF2FF"/>
          </a:solidFill>
          <a:ln/>
          <a:effectLst>
            <a:outerShdw sx="100000" sy="100000" kx="0" ky="0" algn="bl" rotWithShape="0" blurRad="101600" dist="25400" dir="8100000">
              <a:srgbClr val="000000">
                <a:alpha val="12000"/>
              </a:srgbClr>
            </a:outerShdw>
          </a:effectLst>
        </p:spPr>
      </p:sp>
      <p:sp>
        <p:nvSpPr>
          <p:cNvPr id="23" name="Shape 21"/>
          <p:cNvSpPr/>
          <p:nvPr/>
        </p:nvSpPr>
        <p:spPr>
          <a:xfrm>
            <a:off x="4754880" y="3017520"/>
            <a:ext cx="64008" cy="1691640"/>
          </a:xfrm>
          <a:prstGeom prst="rect">
            <a:avLst/>
          </a:prstGeom>
          <a:solidFill>
            <a:srgbClr val="3B7FD4"/>
          </a:solidFill>
          <a:ln/>
        </p:spPr>
      </p:sp>
      <p:sp>
        <p:nvSpPr>
          <p:cNvPr id="24" name="Text 22"/>
          <p:cNvSpPr/>
          <p:nvPr/>
        </p:nvSpPr>
        <p:spPr>
          <a:xfrm>
            <a:off x="4983480" y="3127248"/>
            <a:ext cx="3566160" cy="256032"/>
          </a:xfrm>
          <a:prstGeom prst="rect">
            <a:avLst/>
          </a:prstGeom>
          <a:noFill/>
          <a:ln/>
        </p:spPr>
        <p:txBody>
          <a:bodyPr wrap="square" rtlCol="0" anchor="ctr"/>
          <a:lstStyle/>
          <a:p>
            <a:pPr indent="0" marL="0">
              <a:buNone/>
            </a:pPr>
            <a:r>
              <a:rPr lang="en-US" sz="900" b="1" spc="200" kern="0" dirty="0">
                <a:solidFill>
                  <a:srgbClr val="3B7FD4"/>
                </a:solidFill>
                <a:latin typeface="Calibri" pitchFamily="34" charset="0"/>
                <a:ea typeface="Calibri" pitchFamily="34" charset="-122"/>
                <a:cs typeface="Calibri" pitchFamily="34" charset="-120"/>
              </a:rPr>
              <a:t>ZSCALER</a:t>
            </a:r>
            <a:endParaRPr lang="en-US" sz="900" dirty="0"/>
          </a:p>
        </p:txBody>
      </p:sp>
      <p:sp>
        <p:nvSpPr>
          <p:cNvPr id="25" name="Text 23"/>
          <p:cNvSpPr/>
          <p:nvPr/>
        </p:nvSpPr>
        <p:spPr>
          <a:xfrm>
            <a:off x="4983480" y="3383280"/>
            <a:ext cx="3566160" cy="594360"/>
          </a:xfrm>
          <a:prstGeom prst="rect">
            <a:avLst/>
          </a:prstGeom>
          <a:noFill/>
          <a:ln/>
        </p:spPr>
        <p:txBody>
          <a:bodyPr wrap="square" rtlCol="0" anchor="ctr"/>
          <a:lstStyle/>
          <a:p>
            <a:pPr indent="0" marL="0">
              <a:buNone/>
            </a:pPr>
            <a:r>
              <a:rPr lang="en-US" sz="3400" b="1" dirty="0">
                <a:solidFill>
                  <a:srgbClr val="1C2B4A"/>
                </a:solidFill>
                <a:latin typeface="Georgia" pitchFamily="34" charset="0"/>
                <a:ea typeface="Georgia" pitchFamily="34" charset="-122"/>
                <a:cs typeface="Georgia" pitchFamily="34" charset="-120"/>
              </a:rPr>
              <a:t>30%</a:t>
            </a:r>
            <a:endParaRPr lang="en-US" sz="3400" dirty="0"/>
          </a:p>
        </p:txBody>
      </p:sp>
      <p:sp>
        <p:nvSpPr>
          <p:cNvPr id="26" name="Text 24"/>
          <p:cNvSpPr/>
          <p:nvPr/>
        </p:nvSpPr>
        <p:spPr>
          <a:xfrm>
            <a:off x="4983480" y="3977640"/>
            <a:ext cx="3566160" cy="320040"/>
          </a:xfrm>
          <a:prstGeom prst="rect">
            <a:avLst/>
          </a:prstGeom>
          <a:noFill/>
          <a:ln/>
        </p:spPr>
        <p:txBody>
          <a:bodyPr wrap="square"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fewer engineers per incident</a:t>
            </a:r>
            <a:endParaRPr lang="en-US" sz="1100" dirty="0"/>
          </a:p>
        </p:txBody>
      </p:sp>
      <p:sp>
        <p:nvSpPr>
          <p:cNvPr id="27" name="Text 25"/>
          <p:cNvSpPr/>
          <p:nvPr/>
        </p:nvSpPr>
        <p:spPr>
          <a:xfrm>
            <a:off x="4983480" y="4315968"/>
            <a:ext cx="3566160" cy="32004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Project Lighthouse  ·  Active POC</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5486400" cy="256032"/>
          </a:xfrm>
          <a:prstGeom prst="rect">
            <a:avLst/>
          </a:prstGeom>
          <a:noFill/>
          <a:ln/>
        </p:spPr>
        <p:txBody>
          <a:bodyPr wrap="square" rtlCol="0" anchor="ctr"/>
          <a:lstStyle/>
          <a:p>
            <a:pPr indent="0" marL="0">
              <a:buNone/>
            </a:pPr>
            <a:r>
              <a:rPr lang="en-US" sz="1100" b="1" spc="300" kern="0" dirty="0">
                <a:solidFill>
                  <a:srgbClr val="3B7FD4"/>
                </a:solidFill>
                <a:latin typeface="Calibri" pitchFamily="34" charset="0"/>
                <a:ea typeface="Calibri" pitchFamily="34" charset="-122"/>
                <a:cs typeface="Calibri" pitchFamily="34" charset="-120"/>
              </a:rPr>
              <a:t>ENTERPRISE-READY</a:t>
            </a:r>
            <a:endParaRPr lang="en-US" sz="1100" dirty="0"/>
          </a:p>
        </p:txBody>
      </p:sp>
      <p:sp>
        <p:nvSpPr>
          <p:cNvPr id="3" name="Text 1"/>
          <p:cNvSpPr/>
          <p:nvPr/>
        </p:nvSpPr>
        <p:spPr>
          <a:xfrm>
            <a:off x="457200" y="530352"/>
            <a:ext cx="8229600" cy="594360"/>
          </a:xfrm>
          <a:prstGeom prst="rect">
            <a:avLst/>
          </a:prstGeom>
          <a:noFill/>
          <a:ln/>
        </p:spPr>
        <p:txBody>
          <a:bodyPr wrap="square" rtlCol="0" anchor="ctr"/>
          <a:lstStyle/>
          <a:p>
            <a:pPr indent="0" marL="0">
              <a:buNone/>
            </a:pPr>
            <a:r>
              <a:rPr lang="en-US" sz="2200" b="1" dirty="0">
                <a:solidFill>
                  <a:srgbClr val="1C2B4A"/>
                </a:solidFill>
                <a:latin typeface="Georgia" pitchFamily="34" charset="0"/>
                <a:ea typeface="Georgia" pitchFamily="34" charset="-122"/>
                <a:cs typeface="Georgia" pitchFamily="34" charset="-120"/>
              </a:rPr>
              <a:t>For regulated industries, deployment model is table stakes.</a:t>
            </a:r>
            <a:endParaRPr lang="en-US" sz="2200" dirty="0"/>
          </a:p>
        </p:txBody>
      </p:sp>
      <p:sp>
        <p:nvSpPr>
          <p:cNvPr id="4" name="Text 2"/>
          <p:cNvSpPr/>
          <p:nvPr/>
        </p:nvSpPr>
        <p:spPr>
          <a:xfrm>
            <a:off x="365760" y="1261872"/>
            <a:ext cx="4114800" cy="320040"/>
          </a:xfrm>
          <a:prstGeom prst="rect">
            <a:avLst/>
          </a:prstGeom>
          <a:noFill/>
          <a:ln/>
        </p:spPr>
        <p:txBody>
          <a:bodyPr wrap="square" rtlCol="0" anchor="ctr"/>
          <a:lstStyle/>
          <a:p>
            <a:pPr indent="0" marL="0">
              <a:buNone/>
            </a:pPr>
            <a:r>
              <a:rPr lang="en-US" sz="1500" b="1" dirty="0">
                <a:solidFill>
                  <a:srgbClr val="1C2B4A"/>
                </a:solidFill>
                <a:latin typeface="Georgia" pitchFamily="34" charset="0"/>
                <a:ea typeface="Georgia" pitchFamily="34" charset="-122"/>
                <a:cs typeface="Georgia" pitchFamily="34" charset="-120"/>
              </a:rPr>
              <a:t>Satellite / On-Premise Deployment</a:t>
            </a:r>
            <a:endParaRPr lang="en-US" sz="1500" dirty="0"/>
          </a:p>
        </p:txBody>
      </p:sp>
      <p:sp>
        <p:nvSpPr>
          <p:cNvPr id="5" name="Shape 3"/>
          <p:cNvSpPr/>
          <p:nvPr/>
        </p:nvSpPr>
        <p:spPr>
          <a:xfrm>
            <a:off x="365760" y="1719072"/>
            <a:ext cx="4114800" cy="457200"/>
          </a:xfrm>
          <a:prstGeom prst="rect">
            <a:avLst/>
          </a:prstGeom>
          <a:solidFill>
            <a:srgbClr val="EBF2FF"/>
          </a:solidFill>
          <a:ln/>
          <a:effectLst>
            <a:outerShdw sx="100000" sy="100000" kx="0" ky="0" algn="bl" rotWithShape="0" blurRad="101600" dist="25400" dir="8100000">
              <a:srgbClr val="000000">
                <a:alpha val="12000"/>
              </a:srgbClr>
            </a:outerShdw>
          </a:effectLst>
        </p:spPr>
      </p:sp>
      <p:sp>
        <p:nvSpPr>
          <p:cNvPr id="6" name="Shape 4"/>
          <p:cNvSpPr/>
          <p:nvPr/>
        </p:nvSpPr>
        <p:spPr>
          <a:xfrm>
            <a:off x="365760" y="1719072"/>
            <a:ext cx="64008" cy="457200"/>
          </a:xfrm>
          <a:prstGeom prst="rect">
            <a:avLst/>
          </a:prstGeom>
          <a:solidFill>
            <a:srgbClr val="3B7FD4"/>
          </a:solidFill>
          <a:ln/>
        </p:spPr>
      </p:sp>
      <p:sp>
        <p:nvSpPr>
          <p:cNvPr id="7" name="Text 5"/>
          <p:cNvSpPr/>
          <p:nvPr/>
        </p:nvSpPr>
        <p:spPr>
          <a:xfrm>
            <a:off x="594360" y="1719072"/>
            <a:ext cx="3749040" cy="457200"/>
          </a:xfrm>
          <a:prstGeom prst="rect">
            <a:avLst/>
          </a:prstGeom>
          <a:noFill/>
          <a:ln/>
        </p:spPr>
        <p:txBody>
          <a:bodyPr wrap="square" lIns="0" tIns="0" rIns="0" bIns="0" rtlCol="0" anchor="ctr"/>
          <a:lstStyle/>
          <a:p>
            <a:pPr indent="0" marL="0">
              <a:buNone/>
            </a:pPr>
            <a:r>
              <a:rPr lang="en-US" sz="1200" b="1" dirty="0">
                <a:solidFill>
                  <a:srgbClr val="1C2B4A"/>
                </a:solidFill>
                <a:latin typeface="Calibri" pitchFamily="34" charset="0"/>
                <a:ea typeface="Calibri" pitchFamily="34" charset="-122"/>
                <a:cs typeface="Calibri" pitchFamily="34" charset="-120"/>
              </a:rPr>
              <a:t>Data never leaves your environment</a:t>
            </a:r>
            <a:endParaRPr lang="en-US" sz="1200" dirty="0"/>
          </a:p>
        </p:txBody>
      </p:sp>
      <p:sp>
        <p:nvSpPr>
          <p:cNvPr id="8" name="Shape 6"/>
          <p:cNvSpPr/>
          <p:nvPr/>
        </p:nvSpPr>
        <p:spPr>
          <a:xfrm>
            <a:off x="365760" y="2313432"/>
            <a:ext cx="4114800" cy="457200"/>
          </a:xfrm>
          <a:prstGeom prst="rect">
            <a:avLst/>
          </a:prstGeom>
          <a:solidFill>
            <a:srgbClr val="EBF2FF"/>
          </a:solidFill>
          <a:ln/>
          <a:effectLst>
            <a:outerShdw sx="100000" sy="100000" kx="0" ky="0" algn="bl" rotWithShape="0" blurRad="101600" dist="25400" dir="8100000">
              <a:srgbClr val="000000">
                <a:alpha val="12000"/>
              </a:srgbClr>
            </a:outerShdw>
          </a:effectLst>
        </p:spPr>
      </p:sp>
      <p:sp>
        <p:nvSpPr>
          <p:cNvPr id="9" name="Shape 7"/>
          <p:cNvSpPr/>
          <p:nvPr/>
        </p:nvSpPr>
        <p:spPr>
          <a:xfrm>
            <a:off x="365760" y="2313432"/>
            <a:ext cx="64008" cy="457200"/>
          </a:xfrm>
          <a:prstGeom prst="rect">
            <a:avLst/>
          </a:prstGeom>
          <a:solidFill>
            <a:srgbClr val="3B7FD4"/>
          </a:solidFill>
          <a:ln/>
        </p:spPr>
      </p:sp>
      <p:sp>
        <p:nvSpPr>
          <p:cNvPr id="10" name="Text 8"/>
          <p:cNvSpPr/>
          <p:nvPr/>
        </p:nvSpPr>
        <p:spPr>
          <a:xfrm>
            <a:off x="594360" y="2313432"/>
            <a:ext cx="3749040" cy="457200"/>
          </a:xfrm>
          <a:prstGeom prst="rect">
            <a:avLst/>
          </a:prstGeom>
          <a:noFill/>
          <a:ln/>
        </p:spPr>
        <p:txBody>
          <a:bodyPr wrap="square" lIns="0" tIns="0" rIns="0" bIns="0" rtlCol="0" anchor="ctr"/>
          <a:lstStyle/>
          <a:p>
            <a:pPr indent="0" marL="0">
              <a:buNone/>
            </a:pPr>
            <a:r>
              <a:rPr lang="en-US" sz="1200" b="1" dirty="0">
                <a:solidFill>
                  <a:srgbClr val="1C2B4A"/>
                </a:solidFill>
                <a:latin typeface="Calibri" pitchFamily="34" charset="0"/>
                <a:ea typeface="Calibri" pitchFamily="34" charset="-122"/>
                <a:cs typeface="Calibri" pitchFamily="34" charset="-120"/>
              </a:rPr>
              <a:t>Role-based access control (RBAC) supported</a:t>
            </a:r>
            <a:endParaRPr lang="en-US" sz="1200" dirty="0"/>
          </a:p>
        </p:txBody>
      </p:sp>
      <p:sp>
        <p:nvSpPr>
          <p:cNvPr id="11" name="Shape 9"/>
          <p:cNvSpPr/>
          <p:nvPr/>
        </p:nvSpPr>
        <p:spPr>
          <a:xfrm>
            <a:off x="365760" y="2907792"/>
            <a:ext cx="4114800" cy="457200"/>
          </a:xfrm>
          <a:prstGeom prst="rect">
            <a:avLst/>
          </a:prstGeom>
          <a:solidFill>
            <a:srgbClr val="EBF2FF"/>
          </a:solidFill>
          <a:ln/>
          <a:effectLst>
            <a:outerShdw sx="100000" sy="100000" kx="0" ky="0" algn="bl" rotWithShape="0" blurRad="101600" dist="25400" dir="8100000">
              <a:srgbClr val="000000">
                <a:alpha val="12000"/>
              </a:srgbClr>
            </a:outerShdw>
          </a:effectLst>
        </p:spPr>
      </p:sp>
      <p:sp>
        <p:nvSpPr>
          <p:cNvPr id="12" name="Shape 10"/>
          <p:cNvSpPr/>
          <p:nvPr/>
        </p:nvSpPr>
        <p:spPr>
          <a:xfrm>
            <a:off x="365760" y="2907792"/>
            <a:ext cx="64008" cy="457200"/>
          </a:xfrm>
          <a:prstGeom prst="rect">
            <a:avLst/>
          </a:prstGeom>
          <a:solidFill>
            <a:srgbClr val="3B7FD4"/>
          </a:solidFill>
          <a:ln/>
        </p:spPr>
      </p:sp>
      <p:sp>
        <p:nvSpPr>
          <p:cNvPr id="13" name="Text 11"/>
          <p:cNvSpPr/>
          <p:nvPr/>
        </p:nvSpPr>
        <p:spPr>
          <a:xfrm>
            <a:off x="594360" y="2907792"/>
            <a:ext cx="3749040" cy="457200"/>
          </a:xfrm>
          <a:prstGeom prst="rect">
            <a:avLst/>
          </a:prstGeom>
          <a:noFill/>
          <a:ln/>
        </p:spPr>
        <p:txBody>
          <a:bodyPr wrap="square" lIns="0" tIns="0" rIns="0" bIns="0" rtlCol="0" anchor="ctr"/>
          <a:lstStyle/>
          <a:p>
            <a:pPr indent="0" marL="0">
              <a:buNone/>
            </a:pPr>
            <a:r>
              <a:rPr lang="en-US" sz="1200" b="1" dirty="0">
                <a:solidFill>
                  <a:srgbClr val="1C2B4A"/>
                </a:solidFill>
                <a:latin typeface="Calibri" pitchFamily="34" charset="0"/>
                <a:ea typeface="Calibri" pitchFamily="34" charset="-122"/>
                <a:cs typeface="Calibri" pitchFamily="34" charset="-120"/>
              </a:rPr>
              <a:t>HIPAA-ready architecture</a:t>
            </a:r>
            <a:endParaRPr lang="en-US" sz="1200" dirty="0"/>
          </a:p>
        </p:txBody>
      </p:sp>
      <p:sp>
        <p:nvSpPr>
          <p:cNvPr id="14" name="Shape 12"/>
          <p:cNvSpPr/>
          <p:nvPr/>
        </p:nvSpPr>
        <p:spPr>
          <a:xfrm>
            <a:off x="365760" y="3502152"/>
            <a:ext cx="4114800" cy="457200"/>
          </a:xfrm>
          <a:prstGeom prst="rect">
            <a:avLst/>
          </a:prstGeom>
          <a:solidFill>
            <a:srgbClr val="EBF2FF"/>
          </a:solidFill>
          <a:ln/>
          <a:effectLst>
            <a:outerShdw sx="100000" sy="100000" kx="0" ky="0" algn="bl" rotWithShape="0" blurRad="101600" dist="25400" dir="8100000">
              <a:srgbClr val="000000">
                <a:alpha val="12000"/>
              </a:srgbClr>
            </a:outerShdw>
          </a:effectLst>
        </p:spPr>
      </p:sp>
      <p:sp>
        <p:nvSpPr>
          <p:cNvPr id="15" name="Shape 13"/>
          <p:cNvSpPr/>
          <p:nvPr/>
        </p:nvSpPr>
        <p:spPr>
          <a:xfrm>
            <a:off x="365760" y="3502152"/>
            <a:ext cx="64008" cy="457200"/>
          </a:xfrm>
          <a:prstGeom prst="rect">
            <a:avLst/>
          </a:prstGeom>
          <a:solidFill>
            <a:srgbClr val="3B7FD4"/>
          </a:solidFill>
          <a:ln/>
        </p:spPr>
      </p:sp>
      <p:sp>
        <p:nvSpPr>
          <p:cNvPr id="16" name="Text 14"/>
          <p:cNvSpPr/>
          <p:nvPr/>
        </p:nvSpPr>
        <p:spPr>
          <a:xfrm>
            <a:off x="594360" y="3502152"/>
            <a:ext cx="3749040" cy="457200"/>
          </a:xfrm>
          <a:prstGeom prst="rect">
            <a:avLst/>
          </a:prstGeom>
          <a:noFill/>
          <a:ln/>
        </p:spPr>
        <p:txBody>
          <a:bodyPr wrap="square" lIns="0" tIns="0" rIns="0" bIns="0" rtlCol="0" anchor="ctr"/>
          <a:lstStyle/>
          <a:p>
            <a:pPr indent="0" marL="0">
              <a:buNone/>
            </a:pPr>
            <a:r>
              <a:rPr lang="en-US" sz="1200" b="1" dirty="0">
                <a:solidFill>
                  <a:srgbClr val="1C2B4A"/>
                </a:solidFill>
                <a:latin typeface="Calibri" pitchFamily="34" charset="0"/>
                <a:ea typeface="Calibri" pitchFamily="34" charset="-122"/>
                <a:cs typeface="Calibri" pitchFamily="34" charset="-120"/>
              </a:rPr>
              <a:t>Full audit trail</a:t>
            </a:r>
            <a:endParaRPr lang="en-US" sz="1200" dirty="0"/>
          </a:p>
        </p:txBody>
      </p:sp>
      <p:sp>
        <p:nvSpPr>
          <p:cNvPr id="17" name="Shape 15"/>
          <p:cNvSpPr/>
          <p:nvPr/>
        </p:nvSpPr>
        <p:spPr>
          <a:xfrm>
            <a:off x="4754880" y="1261872"/>
            <a:ext cx="4114800" cy="1417320"/>
          </a:xfrm>
          <a:prstGeom prst="rect">
            <a:avLst/>
          </a:prstGeom>
          <a:solidFill>
            <a:srgbClr val="1C2B4A"/>
          </a:solidFill>
          <a:ln/>
          <a:effectLst>
            <a:outerShdw sx="100000" sy="100000" kx="0" ky="0" algn="bl" rotWithShape="0" blurRad="101600" dist="25400" dir="8100000">
              <a:srgbClr val="000000">
                <a:alpha val="12000"/>
              </a:srgbClr>
            </a:outerShdw>
          </a:effectLst>
        </p:spPr>
      </p:sp>
      <p:sp>
        <p:nvSpPr>
          <p:cNvPr id="18" name="Shape 16"/>
          <p:cNvSpPr/>
          <p:nvPr/>
        </p:nvSpPr>
        <p:spPr>
          <a:xfrm>
            <a:off x="4754880" y="1261872"/>
            <a:ext cx="64008" cy="1417320"/>
          </a:xfrm>
          <a:prstGeom prst="rect">
            <a:avLst/>
          </a:prstGeom>
          <a:solidFill>
            <a:srgbClr val="3B7FD4"/>
          </a:solidFill>
          <a:ln/>
        </p:spPr>
      </p:sp>
      <p:sp>
        <p:nvSpPr>
          <p:cNvPr id="19" name="Text 17"/>
          <p:cNvSpPr/>
          <p:nvPr/>
        </p:nvSpPr>
        <p:spPr>
          <a:xfrm>
            <a:off x="4983480" y="1353312"/>
            <a:ext cx="3749040" cy="86868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"We have to be extremely careful... if you have memory of an interaction with one portfolio manager and you leak that to another, it's game over."</a:t>
            </a:r>
            <a:endParaRPr lang="en-US" sz="1200" dirty="0"/>
          </a:p>
        </p:txBody>
      </p:sp>
      <p:sp>
        <p:nvSpPr>
          <p:cNvPr id="20" name="Text 18"/>
          <p:cNvSpPr/>
          <p:nvPr/>
        </p:nvSpPr>
        <p:spPr>
          <a:xfrm>
            <a:off x="4983480" y="2258568"/>
            <a:ext cx="3749040" cy="256032"/>
          </a:xfrm>
          <a:prstGeom prst="rect">
            <a:avLst/>
          </a:prstGeom>
          <a:noFill/>
          <a:ln/>
        </p:spPr>
        <p:txBody>
          <a:bodyPr wrap="square" rtlCol="0" anchor="ctr"/>
          <a:lstStyle/>
          <a:p>
            <a:pPr indent="0" marL="0">
              <a:buNone/>
            </a:pPr>
            <a:r>
              <a:rPr lang="en-US" sz="1000" dirty="0">
                <a:solidFill>
                  <a:srgbClr val="63A0E0"/>
                </a:solidFill>
                <a:latin typeface="Calibri" pitchFamily="34" charset="0"/>
                <a:ea typeface="Calibri" pitchFamily="34" charset="-122"/>
                <a:cs typeface="Calibri" pitchFamily="34" charset="-120"/>
              </a:rPr>
              <a:t>— CISO, Millennium Partners LP</a:t>
            </a:r>
            <a:endParaRPr lang="en-US" sz="1000" dirty="0"/>
          </a:p>
        </p:txBody>
      </p:sp>
      <p:sp>
        <p:nvSpPr>
          <p:cNvPr id="21" name="Shape 19"/>
          <p:cNvSpPr/>
          <p:nvPr/>
        </p:nvSpPr>
        <p:spPr>
          <a:xfrm>
            <a:off x="4754880" y="2834640"/>
            <a:ext cx="4114800" cy="1143000"/>
          </a:xfrm>
          <a:prstGeom prst="rect">
            <a:avLst/>
          </a:prstGeom>
          <a:solidFill>
            <a:srgbClr val="1C2B4A"/>
          </a:solidFill>
          <a:ln/>
          <a:effectLst>
            <a:outerShdw sx="100000" sy="100000" kx="0" ky="0" algn="bl" rotWithShape="0" blurRad="101600" dist="25400" dir="8100000">
              <a:srgbClr val="000000">
                <a:alpha val="12000"/>
              </a:srgbClr>
            </a:outerShdw>
          </a:effectLst>
        </p:spPr>
      </p:sp>
      <p:sp>
        <p:nvSpPr>
          <p:cNvPr id="22" name="Shape 20"/>
          <p:cNvSpPr/>
          <p:nvPr/>
        </p:nvSpPr>
        <p:spPr>
          <a:xfrm>
            <a:off x="4754880" y="2834640"/>
            <a:ext cx="64008" cy="1143000"/>
          </a:xfrm>
          <a:prstGeom prst="rect">
            <a:avLst/>
          </a:prstGeom>
          <a:solidFill>
            <a:srgbClr val="3B7FD4"/>
          </a:solidFill>
          <a:ln/>
        </p:spPr>
      </p:sp>
      <p:sp>
        <p:nvSpPr>
          <p:cNvPr id="23" name="Text 21"/>
          <p:cNvSpPr/>
          <p:nvPr/>
        </p:nvSpPr>
        <p:spPr>
          <a:xfrm>
            <a:off x="4983480" y="2907792"/>
            <a:ext cx="3749040" cy="68580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"This is like production logs, right? That's all very proprietary, confidential information for the bank."</a:t>
            </a:r>
            <a:endParaRPr lang="en-US" sz="1200" dirty="0"/>
          </a:p>
        </p:txBody>
      </p:sp>
      <p:sp>
        <p:nvSpPr>
          <p:cNvPr id="24" name="Text 22"/>
          <p:cNvSpPr/>
          <p:nvPr/>
        </p:nvSpPr>
        <p:spPr>
          <a:xfrm>
            <a:off x="4983480" y="3611880"/>
            <a:ext cx="3749040" cy="256032"/>
          </a:xfrm>
          <a:prstGeom prst="rect">
            <a:avLst/>
          </a:prstGeom>
          <a:noFill/>
          <a:ln/>
        </p:spPr>
        <p:txBody>
          <a:bodyPr wrap="square" rtlCol="0" anchor="ctr"/>
          <a:lstStyle/>
          <a:p>
            <a:pPr indent="0" marL="0">
              <a:buNone/>
            </a:pPr>
            <a:r>
              <a:rPr lang="en-US" sz="1000" dirty="0">
                <a:solidFill>
                  <a:srgbClr val="63A0E0"/>
                </a:solidFill>
                <a:latin typeface="Calibri" pitchFamily="34" charset="0"/>
                <a:ea typeface="Calibri" pitchFamily="34" charset="-122"/>
                <a:cs typeface="Calibri" pitchFamily="34" charset="-120"/>
              </a:rPr>
              <a:t>— Distinguished Engineer, Wells Fargo</a:t>
            </a:r>
            <a:endParaRPr lang="en-US" sz="1000" dirty="0"/>
          </a:p>
        </p:txBody>
      </p:sp>
      <p:sp>
        <p:nvSpPr>
          <p:cNvPr id="25" name="Text 23"/>
          <p:cNvSpPr/>
          <p:nvPr/>
        </p:nvSpPr>
        <p:spPr>
          <a:xfrm>
            <a:off x="457200" y="4745736"/>
            <a:ext cx="8229600" cy="256032"/>
          </a:xfrm>
          <a:prstGeom prst="rect">
            <a:avLst/>
          </a:prstGeom>
          <a:noFill/>
          <a:ln/>
        </p:spPr>
        <p:txBody>
          <a:bodyPr wrap="square" rtlCol="0" anchor="ctr"/>
          <a:lstStyle/>
          <a:p>
            <a:pPr algn="ctr" indent="0" marL="0">
              <a:buNone/>
            </a:pPr>
            <a:r>
              <a:rPr lang="en-US" sz="1200" b="1" dirty="0">
                <a:solidFill>
                  <a:srgbClr val="3B7FD4"/>
                </a:solidFill>
                <a:latin typeface="Calibri" pitchFamily="34" charset="0"/>
                <a:ea typeface="Calibri" pitchFamily="34" charset="-122"/>
                <a:cs typeface="Calibri" pitchFamily="34" charset="-120"/>
              </a:rPr>
              <a:t>7 of 15 enterprise accounts raise deployment architecture before product value.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56032"/>
            <a:ext cx="5486400" cy="256032"/>
          </a:xfrm>
          <a:prstGeom prst="rect">
            <a:avLst/>
          </a:prstGeom>
          <a:noFill/>
          <a:ln/>
        </p:spPr>
        <p:txBody>
          <a:bodyPr wrap="square" rtlCol="0" anchor="ctr"/>
          <a:lstStyle/>
          <a:p>
            <a:pPr indent="0" marL="0">
              <a:buNone/>
            </a:pPr>
            <a:r>
              <a:rPr lang="en-US" sz="1100" b="1" spc="300" kern="0" dirty="0">
                <a:solidFill>
                  <a:srgbClr val="63A0E0"/>
                </a:solidFill>
                <a:latin typeface="Calibri" pitchFamily="34" charset="0"/>
                <a:ea typeface="Calibri" pitchFamily="34" charset="-122"/>
                <a:cs typeface="Calibri" pitchFamily="34" charset="-120"/>
              </a:rPr>
              <a:t>WHAT CUSTOMERS SAY</a:t>
            </a:r>
            <a:endParaRPr lang="en-US" sz="1100" dirty="0"/>
          </a:p>
        </p:txBody>
      </p:sp>
      <p:sp>
        <p:nvSpPr>
          <p:cNvPr id="3" name="Shape 1"/>
          <p:cNvSpPr/>
          <p:nvPr/>
        </p:nvSpPr>
        <p:spPr>
          <a:xfrm>
            <a:off x="365760" y="621792"/>
            <a:ext cx="8412480" cy="1170432"/>
          </a:xfrm>
          <a:prstGeom prst="rect">
            <a:avLst/>
          </a:prstGeom>
          <a:solidFill>
            <a:srgbClr val="1E3A5F"/>
          </a:solidFill>
          <a:ln/>
          <a:effectLst>
            <a:outerShdw sx="100000" sy="100000" kx="0" ky="0" algn="bl" rotWithShape="0" blurRad="101600" dist="25400" dir="8100000">
              <a:srgbClr val="000000">
                <a:alpha val="12000"/>
              </a:srgbClr>
            </a:outerShdw>
          </a:effectLst>
        </p:spPr>
      </p:sp>
      <p:sp>
        <p:nvSpPr>
          <p:cNvPr id="4" name="Shape 2"/>
          <p:cNvSpPr/>
          <p:nvPr/>
        </p:nvSpPr>
        <p:spPr>
          <a:xfrm>
            <a:off x="365760" y="621792"/>
            <a:ext cx="64008" cy="1170432"/>
          </a:xfrm>
          <a:prstGeom prst="rect">
            <a:avLst/>
          </a:prstGeom>
          <a:solidFill>
            <a:srgbClr val="3B7FD4"/>
          </a:solidFill>
          <a:ln/>
        </p:spPr>
      </p:sp>
      <p:sp>
        <p:nvSpPr>
          <p:cNvPr id="5" name="Text 3"/>
          <p:cNvSpPr/>
          <p:nvPr/>
        </p:nvSpPr>
        <p:spPr>
          <a:xfrm>
            <a:off x="594360" y="694944"/>
            <a:ext cx="7772400" cy="621792"/>
          </a:xfrm>
          <a:prstGeom prst="rect">
            <a:avLst/>
          </a:prstGeom>
          <a:noFill/>
          <a:ln/>
        </p:spPr>
        <p:txBody>
          <a:bodyPr wrap="square" rtlCol="0" anchor="ctr"/>
          <a:lstStyle/>
          <a:p>
            <a:pPr indent="0" marL="0">
              <a:buNone/>
            </a:pPr>
            <a:r>
              <a:rPr lang="en-US" sz="1600" b="1" i="1" dirty="0">
                <a:solidFill>
                  <a:srgbClr val="FFFFFF"/>
                </a:solidFill>
                <a:latin typeface="Calibri" pitchFamily="34" charset="0"/>
                <a:ea typeface="Calibri" pitchFamily="34" charset="-122"/>
                <a:cs typeface="Calibri" pitchFamily="34" charset="-120"/>
              </a:rPr>
              <a:t>"I would prefer not using human beings as knowledge base."</a:t>
            </a:r>
            <a:endParaRPr lang="en-US" sz="1600" dirty="0"/>
          </a:p>
        </p:txBody>
      </p:sp>
      <p:sp>
        <p:nvSpPr>
          <p:cNvPr id="6" name="Text 4"/>
          <p:cNvSpPr/>
          <p:nvPr/>
        </p:nvSpPr>
        <p:spPr>
          <a:xfrm>
            <a:off x="594360" y="1353312"/>
            <a:ext cx="7772400" cy="274320"/>
          </a:xfrm>
          <a:prstGeom prst="rect">
            <a:avLst/>
          </a:prstGeom>
          <a:noFill/>
          <a:ln/>
        </p:spPr>
        <p:txBody>
          <a:bodyPr wrap="square" rtlCol="0" anchor="ctr"/>
          <a:lstStyle/>
          <a:p>
            <a:pPr indent="0" marL="0">
              <a:buNone/>
            </a:pPr>
            <a:r>
              <a:rPr lang="en-US" sz="1100" dirty="0">
                <a:solidFill>
                  <a:srgbClr val="63A0E0"/>
                </a:solidFill>
                <a:latin typeface="Calibri" pitchFamily="34" charset="0"/>
                <a:ea typeface="Calibri" pitchFamily="34" charset="-122"/>
                <a:cs typeface="Calibri" pitchFamily="34" charset="-120"/>
              </a:rPr>
              <a:t>— Yevhen, SRE Lead, Ticketmaster</a:t>
            </a:r>
            <a:endParaRPr lang="en-US" sz="1100" dirty="0"/>
          </a:p>
        </p:txBody>
      </p:sp>
      <p:sp>
        <p:nvSpPr>
          <p:cNvPr id="7" name="Shape 5"/>
          <p:cNvSpPr/>
          <p:nvPr/>
        </p:nvSpPr>
        <p:spPr>
          <a:xfrm>
            <a:off x="365760" y="1938528"/>
            <a:ext cx="8412480" cy="1170432"/>
          </a:xfrm>
          <a:prstGeom prst="rect">
            <a:avLst/>
          </a:prstGeom>
          <a:solidFill>
            <a:srgbClr val="1E3A5F"/>
          </a:solidFill>
          <a:ln/>
          <a:effectLst>
            <a:outerShdw sx="100000" sy="100000" kx="0" ky="0" algn="bl" rotWithShape="0" blurRad="101600" dist="25400" dir="8100000">
              <a:srgbClr val="000000">
                <a:alpha val="12000"/>
              </a:srgbClr>
            </a:outerShdw>
          </a:effectLst>
        </p:spPr>
      </p:sp>
      <p:sp>
        <p:nvSpPr>
          <p:cNvPr id="8" name="Shape 6"/>
          <p:cNvSpPr/>
          <p:nvPr/>
        </p:nvSpPr>
        <p:spPr>
          <a:xfrm>
            <a:off x="365760" y="1938528"/>
            <a:ext cx="64008" cy="1170432"/>
          </a:xfrm>
          <a:prstGeom prst="rect">
            <a:avLst/>
          </a:prstGeom>
          <a:solidFill>
            <a:srgbClr val="3B7FD4"/>
          </a:solidFill>
          <a:ln/>
        </p:spPr>
      </p:sp>
      <p:sp>
        <p:nvSpPr>
          <p:cNvPr id="9" name="Text 7"/>
          <p:cNvSpPr/>
          <p:nvPr/>
        </p:nvSpPr>
        <p:spPr>
          <a:xfrm>
            <a:off x="594360" y="2011680"/>
            <a:ext cx="7772400" cy="621792"/>
          </a:xfrm>
          <a:prstGeom prst="rect">
            <a:avLst/>
          </a:prstGeom>
          <a:noFill/>
          <a:ln/>
        </p:spPr>
        <p:txBody>
          <a:bodyPr wrap="square" rtlCol="0" anchor="ctr"/>
          <a:lstStyle/>
          <a:p>
            <a:pPr indent="0" marL="0">
              <a:buNone/>
            </a:pPr>
            <a:r>
              <a:rPr lang="en-US" sz="1600" b="1" i="1" dirty="0">
                <a:solidFill>
                  <a:srgbClr val="FFFFFF"/>
                </a:solidFill>
                <a:latin typeface="Calibri" pitchFamily="34" charset="0"/>
                <a:ea typeface="Calibri" pitchFamily="34" charset="-122"/>
                <a:cs typeface="Calibri" pitchFamily="34" charset="-120"/>
              </a:rPr>
              <a:t>"We need to double every X year. We cannot keep on doing that."</a:t>
            </a:r>
            <a:endParaRPr lang="en-US" sz="1600" dirty="0"/>
          </a:p>
        </p:txBody>
      </p:sp>
      <p:sp>
        <p:nvSpPr>
          <p:cNvPr id="10" name="Text 8"/>
          <p:cNvSpPr/>
          <p:nvPr/>
        </p:nvSpPr>
        <p:spPr>
          <a:xfrm>
            <a:off x="594360" y="2670048"/>
            <a:ext cx="7772400" cy="274320"/>
          </a:xfrm>
          <a:prstGeom prst="rect">
            <a:avLst/>
          </a:prstGeom>
          <a:noFill/>
          <a:ln/>
        </p:spPr>
        <p:txBody>
          <a:bodyPr wrap="square" rtlCol="0" anchor="ctr"/>
          <a:lstStyle/>
          <a:p>
            <a:pPr indent="0" marL="0">
              <a:buNone/>
            </a:pPr>
            <a:r>
              <a:rPr lang="en-US" sz="1100" dirty="0">
                <a:solidFill>
                  <a:srgbClr val="63A0E0"/>
                </a:solidFill>
                <a:latin typeface="Calibri" pitchFamily="34" charset="0"/>
                <a:ea typeface="Calibri" pitchFamily="34" charset="-122"/>
                <a:cs typeface="Calibri" pitchFamily="34" charset="-120"/>
              </a:rPr>
              <a:t>— Rob Cherry, Head of Infrastructure, Millennium Partners LP</a:t>
            </a:r>
            <a:endParaRPr lang="en-US" sz="1100" dirty="0"/>
          </a:p>
        </p:txBody>
      </p:sp>
      <p:sp>
        <p:nvSpPr>
          <p:cNvPr id="11" name="Shape 9"/>
          <p:cNvSpPr/>
          <p:nvPr/>
        </p:nvSpPr>
        <p:spPr>
          <a:xfrm>
            <a:off x="365760" y="3255264"/>
            <a:ext cx="8412480" cy="1170432"/>
          </a:xfrm>
          <a:prstGeom prst="rect">
            <a:avLst/>
          </a:prstGeom>
          <a:solidFill>
            <a:srgbClr val="1E3A5F"/>
          </a:solidFill>
          <a:ln/>
          <a:effectLst>
            <a:outerShdw sx="100000" sy="100000" kx="0" ky="0" algn="bl" rotWithShape="0" blurRad="101600" dist="25400" dir="8100000">
              <a:srgbClr val="000000">
                <a:alpha val="12000"/>
              </a:srgbClr>
            </a:outerShdw>
          </a:effectLst>
        </p:spPr>
      </p:sp>
      <p:sp>
        <p:nvSpPr>
          <p:cNvPr id="12" name="Shape 10"/>
          <p:cNvSpPr/>
          <p:nvPr/>
        </p:nvSpPr>
        <p:spPr>
          <a:xfrm>
            <a:off x="365760" y="3255264"/>
            <a:ext cx="64008" cy="1170432"/>
          </a:xfrm>
          <a:prstGeom prst="rect">
            <a:avLst/>
          </a:prstGeom>
          <a:solidFill>
            <a:srgbClr val="3B7FD4"/>
          </a:solidFill>
          <a:ln/>
        </p:spPr>
      </p:sp>
      <p:sp>
        <p:nvSpPr>
          <p:cNvPr id="13" name="Text 11"/>
          <p:cNvSpPr/>
          <p:nvPr/>
        </p:nvSpPr>
        <p:spPr>
          <a:xfrm>
            <a:off x="594360" y="3328416"/>
            <a:ext cx="7772400" cy="82296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 have not seen an AI solution that can pull from logs from one platform, metrics from another, traces from another, and give you causal AI inferences off of all of that data in separate places."</a:t>
            </a:r>
            <a:endParaRPr lang="en-US" sz="1300" dirty="0"/>
          </a:p>
        </p:txBody>
      </p:sp>
      <p:sp>
        <p:nvSpPr>
          <p:cNvPr id="14" name="Text 12"/>
          <p:cNvSpPr/>
          <p:nvPr/>
        </p:nvSpPr>
        <p:spPr>
          <a:xfrm>
            <a:off x="594360" y="4169664"/>
            <a:ext cx="7772400" cy="274320"/>
          </a:xfrm>
          <a:prstGeom prst="rect">
            <a:avLst/>
          </a:prstGeom>
          <a:noFill/>
          <a:ln/>
        </p:spPr>
        <p:txBody>
          <a:bodyPr wrap="square" rtlCol="0" anchor="ctr"/>
          <a:lstStyle/>
          <a:p>
            <a:pPr indent="0" marL="0">
              <a:buNone/>
            </a:pPr>
            <a:r>
              <a:rPr lang="en-US" sz="1100" dirty="0">
                <a:solidFill>
                  <a:srgbClr val="63A0E0"/>
                </a:solidFill>
                <a:latin typeface="Calibri" pitchFamily="34" charset="0"/>
                <a:ea typeface="Calibri" pitchFamily="34" charset="-122"/>
                <a:cs typeface="Calibri" pitchFamily="34" charset="-120"/>
              </a:rPr>
              <a:t>— Mike Kennedy, SRE / Observability Lead, JPMorgan Chase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56032"/>
            <a:ext cx="5486400" cy="256032"/>
          </a:xfrm>
          <a:prstGeom prst="rect">
            <a:avLst/>
          </a:prstGeom>
          <a:noFill/>
          <a:ln/>
        </p:spPr>
        <p:txBody>
          <a:bodyPr wrap="square" rtlCol="0" anchor="ctr"/>
          <a:lstStyle/>
          <a:p>
            <a:pPr indent="0" marL="0">
              <a:buNone/>
            </a:pPr>
            <a:r>
              <a:rPr lang="en-US" sz="1100" b="1" spc="300" kern="0" dirty="0">
                <a:solidFill>
                  <a:srgbClr val="63A0E0"/>
                </a:solidFill>
                <a:latin typeface="Calibri" pitchFamily="34" charset="0"/>
                <a:ea typeface="Calibri" pitchFamily="34" charset="-122"/>
                <a:cs typeface="Calibri" pitchFamily="34" charset="-120"/>
              </a:rPr>
              <a:t>WHAT HAPPENS NEXT</a:t>
            </a:r>
            <a:endParaRPr lang="en-US" sz="1100" dirty="0"/>
          </a:p>
        </p:txBody>
      </p:sp>
      <p:sp>
        <p:nvSpPr>
          <p:cNvPr id="3" name="Text 1"/>
          <p:cNvSpPr/>
          <p:nvPr/>
        </p:nvSpPr>
        <p:spPr>
          <a:xfrm>
            <a:off x="457200" y="594360"/>
            <a:ext cx="8229600" cy="64008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Is this your problem too?</a:t>
            </a:r>
            <a:endParaRPr lang="en-US" sz="3400" dirty="0"/>
          </a:p>
        </p:txBody>
      </p:sp>
      <p:sp>
        <p:nvSpPr>
          <p:cNvPr id="4" name="Shape 2"/>
          <p:cNvSpPr/>
          <p:nvPr/>
        </p:nvSpPr>
        <p:spPr>
          <a:xfrm>
            <a:off x="320040" y="1463040"/>
            <a:ext cx="2606040" cy="2377440"/>
          </a:xfrm>
          <a:prstGeom prst="rect">
            <a:avLst/>
          </a:prstGeom>
          <a:solidFill>
            <a:srgbClr val="1E3A5F"/>
          </a:solidFill>
          <a:ln/>
          <a:effectLst>
            <a:outerShdw sx="100000" sy="100000" kx="0" ky="0" algn="bl" rotWithShape="0" blurRad="101600" dist="25400" dir="8100000">
              <a:srgbClr val="000000">
                <a:alpha val="12000"/>
              </a:srgbClr>
            </a:outerShdw>
          </a:effectLst>
        </p:spPr>
      </p:sp>
      <p:sp>
        <p:nvSpPr>
          <p:cNvPr id="5" name="Shape 3"/>
          <p:cNvSpPr/>
          <p:nvPr/>
        </p:nvSpPr>
        <p:spPr>
          <a:xfrm>
            <a:off x="320040" y="1463040"/>
            <a:ext cx="2606040" cy="73152"/>
          </a:xfrm>
          <a:prstGeom prst="rect">
            <a:avLst/>
          </a:prstGeom>
          <a:solidFill>
            <a:srgbClr val="3B7FD4"/>
          </a:solidFill>
          <a:ln/>
        </p:spPr>
      </p:sp>
      <p:sp>
        <p:nvSpPr>
          <p:cNvPr id="6" name="Text 4"/>
          <p:cNvSpPr/>
          <p:nvPr/>
        </p:nvSpPr>
        <p:spPr>
          <a:xfrm>
            <a:off x="502920" y="1691640"/>
            <a:ext cx="2194560" cy="502920"/>
          </a:xfrm>
          <a:prstGeom prst="rect">
            <a:avLst/>
          </a:prstGeom>
          <a:noFill/>
          <a:ln/>
        </p:spPr>
        <p:txBody>
          <a:bodyPr wrap="square" rtlCol="0" anchor="ctr"/>
          <a:lstStyle/>
          <a:p>
            <a:pPr indent="0" marL="0">
              <a:buNone/>
            </a:pPr>
            <a:r>
              <a:rPr lang="en-US" sz="2800" b="1" dirty="0">
                <a:solidFill>
                  <a:srgbClr val="3B7FD4"/>
                </a:solidFill>
                <a:latin typeface="Calibri" pitchFamily="34" charset="0"/>
                <a:ea typeface="Calibri" pitchFamily="34" charset="-122"/>
                <a:cs typeface="Calibri" pitchFamily="34" charset="-120"/>
              </a:rPr>
              <a:t>01</a:t>
            </a:r>
            <a:endParaRPr lang="en-US" sz="2800" dirty="0"/>
          </a:p>
        </p:txBody>
      </p:sp>
      <p:sp>
        <p:nvSpPr>
          <p:cNvPr id="7" name="Text 5"/>
          <p:cNvSpPr/>
          <p:nvPr/>
        </p:nvSpPr>
        <p:spPr>
          <a:xfrm>
            <a:off x="502920" y="2212848"/>
            <a:ext cx="2194560" cy="384048"/>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Discovery</a:t>
            </a:r>
            <a:endParaRPr lang="en-US" sz="1600" dirty="0"/>
          </a:p>
        </p:txBody>
      </p:sp>
      <p:sp>
        <p:nvSpPr>
          <p:cNvPr id="8" name="Text 6"/>
          <p:cNvSpPr/>
          <p:nvPr/>
        </p:nvSpPr>
        <p:spPr>
          <a:xfrm>
            <a:off x="502920" y="2670048"/>
            <a:ext cx="2194560" cy="1051560"/>
          </a:xfrm>
          <a:prstGeom prst="rect">
            <a:avLst/>
          </a:prstGeom>
          <a:noFill/>
          <a:ln/>
        </p:spPr>
        <p:txBody>
          <a:bodyPr wrap="square" rtlCol="0" anchor="ctr"/>
          <a:lstStyle/>
          <a:p>
            <a:pPr indent="0" marL="0">
              <a:buNone/>
            </a:pPr>
            <a:r>
              <a:rPr lang="en-US" sz="1100" dirty="0">
                <a:solidFill>
                  <a:srgbClr val="8899AA"/>
                </a:solidFill>
                <a:latin typeface="Calibri" pitchFamily="34" charset="0"/>
                <a:ea typeface="Calibri" pitchFamily="34" charset="-122"/>
                <a:cs typeface="Calibri" pitchFamily="34" charset="-120"/>
              </a:rPr>
              <a:t>We map your environment, identify the highest-impact use case, and define success criteria together.</a:t>
            </a:r>
            <a:endParaRPr lang="en-US" sz="1100" dirty="0"/>
          </a:p>
        </p:txBody>
      </p:sp>
      <p:sp>
        <p:nvSpPr>
          <p:cNvPr id="9" name="Shape 7"/>
          <p:cNvSpPr/>
          <p:nvPr/>
        </p:nvSpPr>
        <p:spPr>
          <a:xfrm>
            <a:off x="3223260" y="1463040"/>
            <a:ext cx="2606040" cy="2377440"/>
          </a:xfrm>
          <a:prstGeom prst="rect">
            <a:avLst/>
          </a:prstGeom>
          <a:solidFill>
            <a:srgbClr val="1E3A5F"/>
          </a:solidFill>
          <a:ln/>
          <a:effectLst>
            <a:outerShdw sx="100000" sy="100000" kx="0" ky="0" algn="bl" rotWithShape="0" blurRad="101600" dist="25400" dir="8100000">
              <a:srgbClr val="000000">
                <a:alpha val="12000"/>
              </a:srgbClr>
            </a:outerShdw>
          </a:effectLst>
        </p:spPr>
      </p:sp>
      <p:sp>
        <p:nvSpPr>
          <p:cNvPr id="10" name="Shape 8"/>
          <p:cNvSpPr/>
          <p:nvPr/>
        </p:nvSpPr>
        <p:spPr>
          <a:xfrm>
            <a:off x="3223260" y="1463040"/>
            <a:ext cx="2606040" cy="73152"/>
          </a:xfrm>
          <a:prstGeom prst="rect">
            <a:avLst/>
          </a:prstGeom>
          <a:solidFill>
            <a:srgbClr val="3B7FD4"/>
          </a:solidFill>
          <a:ln/>
        </p:spPr>
      </p:sp>
      <p:sp>
        <p:nvSpPr>
          <p:cNvPr id="11" name="Text 9"/>
          <p:cNvSpPr/>
          <p:nvPr/>
        </p:nvSpPr>
        <p:spPr>
          <a:xfrm>
            <a:off x="3406140" y="1691640"/>
            <a:ext cx="2194560" cy="502920"/>
          </a:xfrm>
          <a:prstGeom prst="rect">
            <a:avLst/>
          </a:prstGeom>
          <a:noFill/>
          <a:ln/>
        </p:spPr>
        <p:txBody>
          <a:bodyPr wrap="square" rtlCol="0" anchor="ctr"/>
          <a:lstStyle/>
          <a:p>
            <a:pPr indent="0" marL="0">
              <a:buNone/>
            </a:pPr>
            <a:r>
              <a:rPr lang="en-US" sz="2800" b="1" dirty="0">
                <a:solidFill>
                  <a:srgbClr val="3B7FD4"/>
                </a:solidFill>
                <a:latin typeface="Calibri" pitchFamily="34" charset="0"/>
                <a:ea typeface="Calibri" pitchFamily="34" charset="-122"/>
                <a:cs typeface="Calibri" pitchFamily="34" charset="-120"/>
              </a:rPr>
              <a:t>02</a:t>
            </a:r>
            <a:endParaRPr lang="en-US" sz="2800" dirty="0"/>
          </a:p>
        </p:txBody>
      </p:sp>
      <p:sp>
        <p:nvSpPr>
          <p:cNvPr id="12" name="Text 10"/>
          <p:cNvSpPr/>
          <p:nvPr/>
        </p:nvSpPr>
        <p:spPr>
          <a:xfrm>
            <a:off x="3406140" y="2212848"/>
            <a:ext cx="2194560" cy="384048"/>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2-Week POC</a:t>
            </a:r>
            <a:endParaRPr lang="en-US" sz="1600" dirty="0"/>
          </a:p>
        </p:txBody>
      </p:sp>
      <p:sp>
        <p:nvSpPr>
          <p:cNvPr id="13" name="Text 11"/>
          <p:cNvSpPr/>
          <p:nvPr/>
        </p:nvSpPr>
        <p:spPr>
          <a:xfrm>
            <a:off x="3406140" y="2670048"/>
            <a:ext cx="2194560" cy="1051560"/>
          </a:xfrm>
          <a:prstGeom prst="rect">
            <a:avLst/>
          </a:prstGeom>
          <a:noFill/>
          <a:ln/>
        </p:spPr>
        <p:txBody>
          <a:bodyPr wrap="square" rtlCol="0" anchor="ctr"/>
          <a:lstStyle/>
          <a:p>
            <a:pPr indent="0" marL="0">
              <a:buNone/>
            </a:pPr>
            <a:r>
              <a:rPr lang="en-US" sz="1100" dirty="0">
                <a:solidFill>
                  <a:srgbClr val="8899AA"/>
                </a:solidFill>
                <a:latin typeface="Calibri" pitchFamily="34" charset="0"/>
                <a:ea typeface="Calibri" pitchFamily="34" charset="-122"/>
                <a:cs typeface="Calibri" pitchFamily="34" charset="-120"/>
              </a:rPr>
              <a:t>Resolve runs in shadow mode against your real incidents. You see exactly what it would have surfaced.</a:t>
            </a:r>
            <a:endParaRPr lang="en-US" sz="1100" dirty="0"/>
          </a:p>
        </p:txBody>
      </p:sp>
      <p:sp>
        <p:nvSpPr>
          <p:cNvPr id="14" name="Shape 12"/>
          <p:cNvSpPr/>
          <p:nvPr/>
        </p:nvSpPr>
        <p:spPr>
          <a:xfrm>
            <a:off x="6126480" y="1463040"/>
            <a:ext cx="2606040" cy="2377440"/>
          </a:xfrm>
          <a:prstGeom prst="rect">
            <a:avLst/>
          </a:prstGeom>
          <a:solidFill>
            <a:srgbClr val="1E3A5F"/>
          </a:solidFill>
          <a:ln/>
          <a:effectLst>
            <a:outerShdw sx="100000" sy="100000" kx="0" ky="0" algn="bl" rotWithShape="0" blurRad="101600" dist="25400" dir="8100000">
              <a:srgbClr val="000000">
                <a:alpha val="12000"/>
              </a:srgbClr>
            </a:outerShdw>
          </a:effectLst>
        </p:spPr>
      </p:sp>
      <p:sp>
        <p:nvSpPr>
          <p:cNvPr id="15" name="Shape 13"/>
          <p:cNvSpPr/>
          <p:nvPr/>
        </p:nvSpPr>
        <p:spPr>
          <a:xfrm>
            <a:off x="6126480" y="1463040"/>
            <a:ext cx="2606040" cy="73152"/>
          </a:xfrm>
          <a:prstGeom prst="rect">
            <a:avLst/>
          </a:prstGeom>
          <a:solidFill>
            <a:srgbClr val="3B7FD4"/>
          </a:solidFill>
          <a:ln/>
        </p:spPr>
      </p:sp>
      <p:sp>
        <p:nvSpPr>
          <p:cNvPr id="16" name="Text 14"/>
          <p:cNvSpPr/>
          <p:nvPr/>
        </p:nvSpPr>
        <p:spPr>
          <a:xfrm>
            <a:off x="6309360" y="1691640"/>
            <a:ext cx="2194560" cy="502920"/>
          </a:xfrm>
          <a:prstGeom prst="rect">
            <a:avLst/>
          </a:prstGeom>
          <a:noFill/>
          <a:ln/>
        </p:spPr>
        <p:txBody>
          <a:bodyPr wrap="square" rtlCol="0" anchor="ctr"/>
          <a:lstStyle/>
          <a:p>
            <a:pPr indent="0" marL="0">
              <a:buNone/>
            </a:pPr>
            <a:r>
              <a:rPr lang="en-US" sz="2800" b="1" dirty="0">
                <a:solidFill>
                  <a:srgbClr val="3B7FD4"/>
                </a:solidFill>
                <a:latin typeface="Calibri" pitchFamily="34" charset="0"/>
                <a:ea typeface="Calibri" pitchFamily="34" charset="-122"/>
                <a:cs typeface="Calibri" pitchFamily="34" charset="-120"/>
              </a:rPr>
              <a:t>03</a:t>
            </a:r>
            <a:endParaRPr lang="en-US" sz="2800" dirty="0"/>
          </a:p>
        </p:txBody>
      </p:sp>
      <p:sp>
        <p:nvSpPr>
          <p:cNvPr id="17" name="Text 15"/>
          <p:cNvSpPr/>
          <p:nvPr/>
        </p:nvSpPr>
        <p:spPr>
          <a:xfrm>
            <a:off x="6309360" y="2212848"/>
            <a:ext cx="2194560" cy="384048"/>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ROI Readout</a:t>
            </a:r>
            <a:endParaRPr lang="en-US" sz="1600" dirty="0"/>
          </a:p>
        </p:txBody>
      </p:sp>
      <p:sp>
        <p:nvSpPr>
          <p:cNvPr id="18" name="Text 16"/>
          <p:cNvSpPr/>
          <p:nvPr/>
        </p:nvSpPr>
        <p:spPr>
          <a:xfrm>
            <a:off x="6309360" y="2670048"/>
            <a:ext cx="2194560" cy="1051560"/>
          </a:xfrm>
          <a:prstGeom prst="rect">
            <a:avLst/>
          </a:prstGeom>
          <a:noFill/>
          <a:ln/>
        </p:spPr>
        <p:txBody>
          <a:bodyPr wrap="square" rtlCol="0" anchor="ctr"/>
          <a:lstStyle/>
          <a:p>
            <a:pPr indent="0" marL="0">
              <a:buNone/>
            </a:pPr>
            <a:r>
              <a:rPr lang="en-US" sz="1100" dirty="0">
                <a:solidFill>
                  <a:srgbClr val="8899AA"/>
                </a:solidFill>
                <a:latin typeface="Calibri" pitchFamily="34" charset="0"/>
                <a:ea typeface="Calibri" pitchFamily="34" charset="-122"/>
                <a:cs typeface="Calibri" pitchFamily="34" charset="-120"/>
              </a:rPr>
              <a:t>We show you the numbers: time saved, engineers freed, incidents resolved before customer impact.</a:t>
            </a:r>
            <a:endParaRPr lang="en-US" sz="1100" dirty="0"/>
          </a:p>
        </p:txBody>
      </p:sp>
      <p:sp>
        <p:nvSpPr>
          <p:cNvPr id="19" name="Shape 17"/>
          <p:cNvSpPr/>
          <p:nvPr/>
        </p:nvSpPr>
        <p:spPr>
          <a:xfrm>
            <a:off x="0" y="4480560"/>
            <a:ext cx="9144000" cy="388620"/>
          </a:xfrm>
          <a:prstGeom prst="rect">
            <a:avLst/>
          </a:prstGeom>
          <a:solidFill>
            <a:srgbClr val="1E3A5F"/>
          </a:solidFill>
          <a:ln/>
        </p:spPr>
      </p:sp>
      <p:sp>
        <p:nvSpPr>
          <p:cNvPr id="20" name="Text 18"/>
          <p:cNvSpPr/>
          <p:nvPr/>
        </p:nvSpPr>
        <p:spPr>
          <a:xfrm>
            <a:off x="457200" y="4562856"/>
            <a:ext cx="8229600" cy="256032"/>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resolve.ai  ·  Schedule a discovery call to see if this is your problem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2026-04-11T16:02:41Z</dcterms:created>
  <dcterms:modified xsi:type="dcterms:W3CDTF">2026-04-11T16:02:41Z</dcterms:modified>
</cp:coreProperties>
</file>